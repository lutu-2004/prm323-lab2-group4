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[DIỄN GIẢ: Tăng Mình Trọng (Trưởng nhóm)]</a:t>
            </a:r>
          </a:p>
          <a:p/>
          <a:p>
            <a:r>
              <a:t>Kính chào thầy và các bạn, hôm nay Nhóm 4 xin đại diện trình bày kết quả Lab 2 môn PRM323 với đề tài Hệ thống ghép nhóm Khởi nghiệp EXE Team Matching. Ứng dụng ra đời nhằm giải quyết bài toán nhức nhối của sinh viên năm 3: tìm kiếm đồng đội đa ngành có cùng chí hướng và mức độ cam kết cao trước hạn chót của nhà trường.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[DIỄN GIẢ: Tăng Mình Trọng]</a:t>
            </a:r>
          </a:p>
          <a:p/>
          <a:p>
            <a:r>
              <a:t>Dựa trên chuẩn Persona Guideline của môn học, chúng em xây dựng Primary Persona đại diện là bạn Lê Quốc Huy, 21 tuổi, học SE. Huy có kỹ năng lập trình tốt nhưng mạng lưới quan hệ hẹp. Điểm đau lớn nhất là sợ gặp free-rider và bị trôi bài trên Facebook. Toàn bộ thiết kế được tối ưu để đạt chỉ số thành công đo được: giúp Huy tìm thấy nhóm phù hợp và nộp hồ sơ chỉ trong vòng dưới 60 giây.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[DIỄN GIẢ: Tăng Mình Trọng]</a:t>
            </a:r>
          </a:p>
          <a:p/>
          <a:p>
            <a:r>
              <a:t>Để phục vụ thói quen thao tác 1 tay của Huy trên màn hình di động, chúng em thiết kế kiến trúc thông tin dạng phẳng với Bottom Navigation 4 tab. Toàn bộ hệ sinh thái gồm 9 màn hình được phân cấp rành mạch từ màn hình chính Khám phá, đi sâu vào Chi tiết dự án, Bottom Sheet ứng tuyển, đến các màn hình xác nhận và theo dõi trạng thái đơn.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[DIỄN GIẢ: Phan Anh Tuấn]</a:t>
            </a:r>
          </a:p>
          <a:p/>
          <a:p>
            <a:r>
              <a:t>Tiếp nối phần kiến trúc, em xin trình bày 3 User Flows thực thi. Bên cạnh luồng ứng tuyển chuẩn Happy Path đạt mốc dưới 60 giây và luồng trưởng nhóm hẹn lịch Chemistry Call, nhóm đặc biệt chú trọng Luồng 3 - Phục hồi lỗi. Khi người dùng lọc tiêu chí quá hẹp dẫn đến 0 kết quả, ứng dụng đưa ra Empty State minh họa trực quan kèm nút bấm 'Xóa bộ lọc' để người dùng khôi phục trạng thái ngay lập tức, không có ngõ cụt.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[DIỄN GIẢ: Phan Anh Tuấn]</a:t>
            </a:r>
          </a:p>
          <a:p/>
          <a:p>
            <a:r>
              <a:t>Tại bước sinh giao diện, nhóm áp dụng kỹ thuật Prompt Engineering chặt chẽ gồm 5 thành phần: định hình rõ Persona, tác vụ cụ thể, nền tảng di động chuẩn, các ràng buộc công thái học và bảng màu chủ đạo. Google Stitch đã giúp nhóm nhanh chóng trực quan hóa ý tưởng ban đầu thành 8 phôi giao diện mobile, đóng vai trò làm bàn đạp để nhóm tiến hành phản biện và tinh chỉnh chuyên sâu.</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[DIỄN GIẢ: Phan Anh Tuấn]</a:t>
            </a:r>
          </a:p>
          <a:p/>
          <a:p>
            <a:r>
              <a:t>Nhóm xác định rõ: AI chỉ là trợ lý sinh phôi, con người mới là người kiểm soát chất lượng. Qua lăng kính 10 Heuristics của Nielsen và tiêu chuẩn WCAG, nhóm phát hiện AI mắc 5 lỗi lớn như vi phạm độ tương phản và thiếu vùng chạm an toàn. Chúng em đã thực hiện 3 vòng lặp tinh chỉnh liên tiếp: từ phân cấp thị giác, chuẩn hóa công thái học vùng chạm, đến việc bổ sung hoàn chỉnh các trạng thái biên như Empty State và Loading.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[DIỄN GIẢ: Đỗ Anh Minh]</a:t>
            </a:r>
          </a:p>
          <a:p/>
          <a:p>
            <a:r>
              <a:t>Đây là minh chứng rõ nét cho năng lực phản biện của nhóm. Chúng em không nhận vơ toàn bộ những gì AI tạo ra. Với các đề xuất bất hợp lý như Pop-up che màn hình hay báo trạng thái chỉ bằng màu sắc, nhóm thẳng thừng Reject và thay thế bằng Bottom Sheet kéo vuốt cùng hệ thống nhãn kép Icon + Text. Mọi quyết định đều có căn cứ vững chắc từ thói quen người dùng và tiêu chuẩn công thái học.</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[DIỄN GIẢ: Đỗ Anh Minh]</a:t>
            </a:r>
          </a:p>
          <a:p/>
          <a:p>
            <a:r>
              <a:t>Trên màn hình là sự tiến hóa từ Wireframe cấu trúc sang 8 màn hình UI hoàn thiện trên Figma. Chúng em cam kết đáp ứng vượt chuẩn kiểm định C6 của môn học: có đủ tối thiểu 8 màn hình chức năng riêng biệt, bao phủ trọn vẹn mọi điểm chạm từ tìm kiếm, xem chi tiết, ứng tuyển, đặt lịch hẹn cho đến xử lý trạng thái rỗng. Tính nhất quán về khoảng cách và nhận diện thị giác được bảo toàn 100%.</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[DIỄN GIẢ: Đỗ Anh Minh]</a:t>
            </a:r>
          </a:p>
          <a:p/>
          <a:p>
            <a:r>
              <a:t>Để dự án có thể mở rộng và bàn giao mượt mà cho đội ngũ kỹ thuật, chúng em xây dựng Design System hoàn chỉnh trên Figma. Toàn bộ thông số từ màu sắc, kích thước chữ, bo góc đều được quản lý bằng Figma Variables. Thư viện linh kiện bao gồm đủ 9 nhóm cốt lõi với 100% sử dụng Auto Layout và Variant states từ Default đến Disabled và Error.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[DIỄN GIẢ: Lữ Phước Nhật Tú]</a:t>
            </a:r>
          </a:p>
          <a:p/>
          <a:p>
            <a:r>
              <a:t>Về mặt công thái học và tiếp cận, chúng em tự hào sản phẩm đạt 100% chuẩn WCAG 2.1 AA. Mọi nút bấm đều đảm bảo vùng chạm 48dp để người dùng không bấm trượt khi đang đi xe buýt. Độ tương phản chữ đạt từ 4.68:1 trở lên, giúp đọc rõ ngay cả dưới ánh nắng sân trường. Hệ thống layout co giãn linh hoạt, đảm bảo hiển thị hoàn hảo từ màn hình 360dp đến các dòng điện thoại cao cấp 412dp.</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[DIỄN GIẢ: Lữ Phước Nhật Tú]</a:t>
            </a:r>
          </a:p>
          <a:p/>
          <a:p>
            <a:r>
              <a:t>Bản Prototype trên Figma Page 06 được liên kết tỉ mỉ với đầy đủ 3 luồng người dùng. Các thao tác mở Bottom Sheet, chuyển cảnh khi nộp đơn thành công và quay trở lại trang chủ đều hoạt động mượt mà. Đặc biệt, người dùng có thể thử nghiệm nhánh lỗi tại luồng tìm kiếm và phục hồi dễ dàng. Ngay sau đây, nhóm sẽ trình diễn trực tiếp bản Prototype này trong phần Demo 5 phút.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[DIỄN GIẢ: Lữ Phước Nhật Tú]</a:t>
            </a:r>
          </a:p>
          <a:p/>
          <a:p>
            <a:r>
              <a:t>Để khép lại bài thuyết trình, tài liệu Flutter Handoff của nhóm cung cấp bản đặc tả kỹ thuật chi tiết đến từng Widget và Theme property. Một lập trình viên Flutter dù chưa từng tham gia dự án cũng có thể nhìn vào đặc tả này để dựng giao diện chính xác từng pixel và quản lý đầy đủ các trạng thái logic. Nhóm 4 xin chân thành cảm ơn thầy và các bạn đã lắng nghe!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65760"/>
            <a:ext cx="11094415" cy="777240"/>
          </a:xfrm>
          <a:prstGeom prst="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3B82F6"/>
                </a:solidFill>
                <a:latin typeface="Arial"/>
              </a:defRPr>
            </a:pPr>
            <a:r>
              <a:t>SLIDE 01 | EXE TEAM MATCHING - TỔNG QUAN DỰ ÁN</a:t>
            </a:r>
          </a:p>
        </p:txBody>
      </p:sp>
      <p:sp>
        <p:nvSpPr>
          <p:cNvPr id="4" name="TextBox 3"/>
          <p:cNvSpPr txBox="1"/>
          <p:nvPr/>
        </p:nvSpPr>
        <p:spPr>
          <a:xfrm>
            <a:off x="8412480" y="438912"/>
            <a:ext cx="3108960" cy="594360"/>
          </a:xfrm>
          <a:prstGeom prst="rect">
            <a:avLst/>
          </a:prstGeom>
          <a:noFill/>
        </p:spPr>
        <p:txBody>
          <a:bodyPr wrap="none">
            <a:spAutoFit/>
          </a:bodyPr>
          <a:lstStyle/>
          <a:p>
            <a:pPr algn="r">
              <a:defRPr sz="1300" b="1">
                <a:solidFill>
                  <a:srgbClr val="10B981"/>
                </a:solidFill>
                <a:latin typeface="Arial"/>
              </a:defRPr>
            </a:pPr>
            <a:r>
              <a:t>👤 Tăng Mình Trọng (Trưởng nhóm)</a:t>
            </a:r>
          </a:p>
        </p:txBody>
      </p:sp>
      <p:sp>
        <p:nvSpPr>
          <p:cNvPr id="5" name="Rounded Rectangle 4"/>
          <p:cNvSpPr/>
          <p:nvPr/>
        </p:nvSpPr>
        <p:spPr>
          <a:xfrm>
            <a:off x="548640" y="1325880"/>
            <a:ext cx="7132320" cy="5120640"/>
          </a:xfrm>
          <a:prstGeom prst="round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tIns="274320" lIns="320040" rIns="320040" bIns="274320"/>
          <a:lstStyle/>
          <a:p>
            <a:pPr algn="ctr">
              <a:spcAft>
                <a:spcPts val="600"/>
              </a:spcAft>
              <a:defRPr sz="1300">
                <a:solidFill>
                  <a:srgbClr val="F8FAFC"/>
                </a:solidFill>
                <a:latin typeface="Arial"/>
              </a:defRPr>
            </a:pPr>
            <a:r>
              <a:t>Bối cảnh thực tế: Sinh viên bước vào kỳ đồ án EXE101/201 bắt buộc phải lập nhóm liên ngành (IT + Kinh tế/Marketing).</a:t>
            </a:r>
          </a:p>
          <a:p>
            <a:pPr>
              <a:spcAft>
                <a:spcPts val="600"/>
              </a:spcAft>
              <a:defRPr sz="1300">
                <a:solidFill>
                  <a:srgbClr val="F8FAFC"/>
                </a:solidFill>
                <a:latin typeface="Arial"/>
              </a:defRPr>
            </a:pPr>
            <a:r>
              <a:t>Thực trạng: Tìm nhóm qua Facebook bị trôi bài, không rõ năng lực, dễ gặp free-rider và ghép vội sát deadline.</a:t>
            </a:r>
          </a:p>
          <a:p>
            <a:pPr>
              <a:spcAft>
                <a:spcPts val="600"/>
              </a:spcAft>
              <a:defRPr sz="1300">
                <a:solidFill>
                  <a:srgbClr val="F8FAFC"/>
                </a:solidFill>
                <a:latin typeface="Arial"/>
              </a:defRPr>
            </a:pPr>
            <a:r>
              <a:t>Giải pháp: Ứng dụng di động EXE Team Matching kết nối sinh viên qua Ma trận kỹ năng (Skill Matrix) &amp; thời gian cam kết.</a:t>
            </a:r>
          </a:p>
          <a:p>
            <a:pPr>
              <a:spcBef>
                <a:spcPts val="600"/>
              </a:spcBef>
              <a:spcAft>
                <a:spcPts val="400"/>
              </a:spcAft>
              <a:defRPr sz="1400" b="1">
                <a:solidFill>
                  <a:srgbClr val="3B82F6"/>
                </a:solidFill>
                <a:latin typeface="Arial"/>
              </a:defRPr>
            </a:pPr>
            <a:r>
              <a:t>Đội ngũ Nhóm 4:</a:t>
            </a:r>
          </a:p>
          <a:p>
            <a:pPr lvl="1">
              <a:spcAft>
                <a:spcPts val="400"/>
              </a:spcAft>
              <a:defRPr sz="1250">
                <a:solidFill>
                  <a:srgbClr val="94A3B8"/>
                </a:solidFill>
                <a:latin typeface="Arial"/>
              </a:defRPr>
            </a:pPr>
            <a:r>
              <a:t>  • 1. Tăng Mình Trọng: Trưởng nhóm · UX Research, Persona, Quản phối</a:t>
            </a:r>
          </a:p>
          <a:p>
            <a:pPr lvl="1">
              <a:spcAft>
                <a:spcPts val="400"/>
              </a:spcAft>
              <a:defRPr sz="1250">
                <a:solidFill>
                  <a:srgbClr val="94A3B8"/>
                </a:solidFill>
                <a:latin typeface="Arial"/>
              </a:defRPr>
            </a:pPr>
            <a:r>
              <a:t>  • 2. Phan Anh Tuấn: User Flows, AI Prompting &amp; Usability Heuristics</a:t>
            </a:r>
          </a:p>
          <a:p>
            <a:pPr lvl="1">
              <a:spcAft>
                <a:spcPts val="400"/>
              </a:spcAft>
              <a:defRPr sz="1250">
                <a:solidFill>
                  <a:srgbClr val="94A3B8"/>
                </a:solidFill>
                <a:latin typeface="Arial"/>
              </a:defRPr>
            </a:pPr>
            <a:r>
              <a:t>  • 3. Đỗ Anh Minh: Design System, Figma Components &amp; UI Audit</a:t>
            </a:r>
          </a:p>
          <a:p>
            <a:pPr lvl="1">
              <a:spcAft>
                <a:spcPts val="400"/>
              </a:spcAft>
              <a:defRPr sz="1250">
                <a:solidFill>
                  <a:srgbClr val="94A3B8"/>
                </a:solidFill>
                <a:latin typeface="Arial"/>
              </a:defRPr>
            </a:pPr>
            <a:r>
              <a:t>  • 4. Lữ Phước Nhật Tú: Interactive Prototype &amp; Flutter Handoff</a:t>
            </a:r>
          </a:p>
          <a:p>
            <a:pPr>
              <a:spcAft>
                <a:spcPts val="600"/>
              </a:spcAft>
              <a:defRPr sz="1300">
                <a:solidFill>
                  <a:srgbClr val="F8FAFC"/>
                </a:solidFill>
                <a:latin typeface="Arial"/>
              </a:defRPr>
            </a:pPr>
            <a:r>
              <a:t>Minh chứng: GitHub github.com/LuTu-2004/prm323-lab2-group4 | Figma Canvas 6 Pages</a:t>
            </a:r>
          </a:p>
        </p:txBody>
      </p:sp>
      <p:sp>
        <p:nvSpPr>
          <p:cNvPr id="6" name="Rounded Rectangle 5"/>
          <p:cNvSpPr/>
          <p:nvPr/>
        </p:nvSpPr>
        <p:spPr>
          <a:xfrm>
            <a:off x="7863840" y="1325880"/>
            <a:ext cx="3779215" cy="5120640"/>
          </a:xfrm>
          <a:prstGeom prst="round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creen_01_discovery_feed.png"/>
          <p:cNvPicPr>
            <a:picLocks noChangeAspect="1"/>
          </p:cNvPicPr>
          <p:nvPr/>
        </p:nvPicPr>
        <p:blipFill>
          <a:blip r:embed="rId2"/>
          <a:stretch>
            <a:fillRect/>
          </a:stretch>
        </p:blipFill>
        <p:spPr>
          <a:xfrm>
            <a:off x="8092440" y="1508760"/>
            <a:ext cx="3322015" cy="14919927"/>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65760"/>
            <a:ext cx="11094415" cy="777240"/>
          </a:xfrm>
          <a:prstGeom prst="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3B82F6"/>
                </a:solidFill>
                <a:latin typeface="Arial"/>
              </a:defRPr>
            </a:pPr>
            <a:r>
              <a:t>SLIDE 02 | PROBLEM &amp; PRIMARY PERSONA (LÊ QUỐC HUY)</a:t>
            </a:r>
          </a:p>
        </p:txBody>
      </p:sp>
      <p:sp>
        <p:nvSpPr>
          <p:cNvPr id="4" name="TextBox 3"/>
          <p:cNvSpPr txBox="1"/>
          <p:nvPr/>
        </p:nvSpPr>
        <p:spPr>
          <a:xfrm>
            <a:off x="8412480" y="438912"/>
            <a:ext cx="3108960" cy="594360"/>
          </a:xfrm>
          <a:prstGeom prst="rect">
            <a:avLst/>
          </a:prstGeom>
          <a:noFill/>
        </p:spPr>
        <p:txBody>
          <a:bodyPr wrap="none">
            <a:spAutoFit/>
          </a:bodyPr>
          <a:lstStyle/>
          <a:p>
            <a:pPr algn="r">
              <a:defRPr sz="1300" b="1">
                <a:solidFill>
                  <a:srgbClr val="10B981"/>
                </a:solidFill>
                <a:latin typeface="Arial"/>
              </a:defRPr>
            </a:pPr>
            <a:r>
              <a:t>👤 Tăng Mình Trọng</a:t>
            </a:r>
          </a:p>
        </p:txBody>
      </p:sp>
      <p:sp>
        <p:nvSpPr>
          <p:cNvPr id="5" name="Rounded Rectangle 4"/>
          <p:cNvSpPr/>
          <p:nvPr/>
        </p:nvSpPr>
        <p:spPr>
          <a:xfrm>
            <a:off x="548640" y="1325880"/>
            <a:ext cx="7132320" cy="5120640"/>
          </a:xfrm>
          <a:prstGeom prst="round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tIns="274320" lIns="320040" rIns="320040" bIns="274320"/>
          <a:lstStyle/>
          <a:p>
            <a:pPr algn="ctr">
              <a:spcAft>
                <a:spcPts val="600"/>
              </a:spcAft>
              <a:defRPr sz="1300">
                <a:solidFill>
                  <a:srgbClr val="F8FAFC"/>
                </a:solidFill>
                <a:latin typeface="Arial"/>
              </a:defRPr>
            </a:pPr>
            <a:r>
              <a:t>Họ và tên: Lê Quốc Huy · 21 tuổi · Sinh viên năm 3 Kỹ thuật Phần mềm (SE).</a:t>
            </a:r>
          </a:p>
          <a:p>
            <a:pPr>
              <a:spcAft>
                <a:spcPts val="600"/>
              </a:spcAft>
              <a:defRPr sz="1300">
                <a:solidFill>
                  <a:srgbClr val="F8FAFC"/>
                </a:solidFill>
                <a:latin typeface="Arial"/>
              </a:defRPr>
            </a:pPr>
            <a:r>
              <a:t>Vai trò: Technical Lead / Flutter Developer (Tech-Savvy Active Seeker).</a:t>
            </a:r>
          </a:p>
          <a:p>
            <a:pPr>
              <a:spcAft>
                <a:spcPts val="600"/>
              </a:spcAft>
              <a:defRPr sz="1300">
                <a:solidFill>
                  <a:srgbClr val="F8FAFC"/>
                </a:solidFill>
                <a:latin typeface="Arial"/>
              </a:defRPr>
            </a:pPr>
            <a:r>
              <a:t>Bối cảnh: Dùng Android 360x800 dp, thao tác 1 tay trên xe buýt / sảnh trường, deadline nộp nhóm còn đúng 5 ngày.</a:t>
            </a:r>
          </a:p>
          <a:p>
            <a:pPr>
              <a:spcAft>
                <a:spcPts val="600"/>
              </a:spcAft>
              <a:defRPr sz="1300">
                <a:solidFill>
                  <a:srgbClr val="F8FAFC"/>
                </a:solidFill>
                <a:latin typeface="Arial"/>
              </a:defRPr>
            </a:pPr>
            <a:r>
              <a:t>Pain Points: Bài đăng trôi nhanh, kỹ năng ứng viên mập mờ, nhắn tin xin vào nhóm thì đối phương đã đủ người.</a:t>
            </a:r>
          </a:p>
          <a:p>
            <a:pPr>
              <a:spcBef>
                <a:spcPts val="600"/>
              </a:spcBef>
              <a:spcAft>
                <a:spcPts val="400"/>
              </a:spcAft>
              <a:defRPr sz="1400" b="1">
                <a:solidFill>
                  <a:srgbClr val="3B82F6"/>
                </a:solidFill>
                <a:latin typeface="Arial"/>
              </a:defRPr>
            </a:pPr>
            <a:r>
              <a:t>Problem Statement:</a:t>
            </a:r>
          </a:p>
          <a:p>
            <a:pPr lvl="1">
              <a:spcAft>
                <a:spcPts val="400"/>
              </a:spcAft>
              <a:defRPr sz="1250">
                <a:solidFill>
                  <a:srgbClr val="94A3B8"/>
                </a:solidFill>
                <a:latin typeface="Arial"/>
              </a:defRPr>
            </a:pPr>
            <a:r>
              <a:t>  "Sinh viên kỹ thuật phần mềm gặp khó khăn lớn trong việc tìm kiếm và kết nối với đồng đội khối ngành Kinh tế/Marketing phù hợp về kỹ năng và cam kết trước hạn chót nộp danh sách của nhà trường."</a:t>
            </a:r>
          </a:p>
          <a:p>
            <a:pPr>
              <a:spcBef>
                <a:spcPts val="600"/>
              </a:spcBef>
              <a:spcAft>
                <a:spcPts val="400"/>
              </a:spcAft>
              <a:defRPr sz="1400" b="1">
                <a:solidFill>
                  <a:srgbClr val="3B82F6"/>
                </a:solidFill>
                <a:latin typeface="Arial"/>
              </a:defRPr>
            </a:pPr>
            <a:r>
              <a:t>Chỉ số thành công đo lường được (Measurable Metric):</a:t>
            </a:r>
          </a:p>
          <a:p>
            <a:pPr lvl="1">
              <a:spcAft>
                <a:spcPts val="400"/>
              </a:spcAft>
              <a:defRPr sz="1250">
                <a:solidFill>
                  <a:srgbClr val="94A3B8"/>
                </a:solidFill>
                <a:latin typeface="Arial"/>
              </a:defRPr>
            </a:pPr>
            <a:r>
              <a:t>  "Sinh viên tìm được nhóm EXE phù hợp và gửi thành công đơn ứng tuyển trong thời gian dưới 60 giây."</a:t>
            </a:r>
          </a:p>
        </p:txBody>
      </p:sp>
      <p:sp>
        <p:nvSpPr>
          <p:cNvPr id="6" name="Rounded Rectangle 5"/>
          <p:cNvSpPr/>
          <p:nvPr/>
        </p:nvSpPr>
        <p:spPr>
          <a:xfrm>
            <a:off x="7863840" y="1325880"/>
            <a:ext cx="3779215" cy="5120640"/>
          </a:xfrm>
          <a:prstGeom prst="round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creen_02_project_detail.png"/>
          <p:cNvPicPr>
            <a:picLocks noChangeAspect="1"/>
          </p:cNvPicPr>
          <p:nvPr/>
        </p:nvPicPr>
        <p:blipFill>
          <a:blip r:embed="rId2"/>
          <a:stretch>
            <a:fillRect/>
          </a:stretch>
        </p:blipFill>
        <p:spPr>
          <a:xfrm>
            <a:off x="8092440" y="1508760"/>
            <a:ext cx="3322015" cy="13606973"/>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65760"/>
            <a:ext cx="11094415" cy="777240"/>
          </a:xfrm>
          <a:prstGeom prst="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3B82F6"/>
                </a:solidFill>
                <a:latin typeface="Arial"/>
              </a:defRPr>
            </a:pPr>
            <a:r>
              <a:t>SLIDE 03 | INFORMATION ARCHITECTURE (SITEMAP 9 MÀN HÌNH)</a:t>
            </a:r>
          </a:p>
        </p:txBody>
      </p:sp>
      <p:sp>
        <p:nvSpPr>
          <p:cNvPr id="4" name="TextBox 3"/>
          <p:cNvSpPr txBox="1"/>
          <p:nvPr/>
        </p:nvSpPr>
        <p:spPr>
          <a:xfrm>
            <a:off x="8412480" y="438912"/>
            <a:ext cx="3108960" cy="594360"/>
          </a:xfrm>
          <a:prstGeom prst="rect">
            <a:avLst/>
          </a:prstGeom>
          <a:noFill/>
        </p:spPr>
        <p:txBody>
          <a:bodyPr wrap="none">
            <a:spAutoFit/>
          </a:bodyPr>
          <a:lstStyle/>
          <a:p>
            <a:pPr algn="r">
              <a:defRPr sz="1300" b="1">
                <a:solidFill>
                  <a:srgbClr val="10B981"/>
                </a:solidFill>
                <a:latin typeface="Arial"/>
              </a:defRPr>
            </a:pPr>
            <a:r>
              <a:t>👤 Tăng Mình Trọng</a:t>
            </a:r>
          </a:p>
        </p:txBody>
      </p:sp>
      <p:sp>
        <p:nvSpPr>
          <p:cNvPr id="5" name="Rounded Rectangle 4"/>
          <p:cNvSpPr/>
          <p:nvPr/>
        </p:nvSpPr>
        <p:spPr>
          <a:xfrm>
            <a:off x="548640" y="1325880"/>
            <a:ext cx="7132320" cy="5120640"/>
          </a:xfrm>
          <a:prstGeom prst="round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tIns="274320" lIns="320040" rIns="320040" bIns="274320"/>
          <a:lstStyle/>
          <a:p>
            <a:pPr algn="ctr">
              <a:spcAft>
                <a:spcPts val="600"/>
              </a:spcAft>
              <a:defRPr sz="1300">
                <a:solidFill>
                  <a:srgbClr val="F8FAFC"/>
                </a:solidFill>
                <a:latin typeface="Arial"/>
              </a:defRPr>
            </a:pPr>
            <a:r>
              <a:t>Mô hình điều hướng: Bottom Navigation Bar 4 tab cố định (Khám phá · Đơn của tôi · Tin nhắn · Cá nhân).</a:t>
            </a:r>
          </a:p>
          <a:p>
            <a:pPr>
              <a:spcBef>
                <a:spcPts val="600"/>
              </a:spcBef>
              <a:spcAft>
                <a:spcPts val="400"/>
              </a:spcAft>
              <a:defRPr sz="1400" b="1">
                <a:solidFill>
                  <a:srgbClr val="3B82F6"/>
                </a:solidFill>
                <a:latin typeface="Arial"/>
              </a:defRPr>
            </a:pPr>
            <a:r>
              <a:t>Phân cấp 3 tầng màn hình rõ ràng:</a:t>
            </a:r>
          </a:p>
          <a:p>
            <a:pPr lvl="1">
              <a:spcAft>
                <a:spcPts val="400"/>
              </a:spcAft>
              <a:defRPr sz="1250">
                <a:solidFill>
                  <a:srgbClr val="94A3B8"/>
                </a:solidFill>
                <a:latin typeface="Arial"/>
              </a:defRPr>
            </a:pPr>
            <a:r>
              <a:t>  • Top-Level (Cấp 1): Screen 01 (Khám phá), Screen 05 (Theo dõi đơn), Screen 08 (Empty State).</a:t>
            </a:r>
          </a:p>
          <a:p>
            <a:pPr lvl="1">
              <a:spcAft>
                <a:spcPts val="400"/>
              </a:spcAft>
              <a:defRPr sz="1250">
                <a:solidFill>
                  <a:srgbClr val="94A3B8"/>
                </a:solidFill>
                <a:latin typeface="Arial"/>
              </a:defRPr>
            </a:pPr>
            <a:r>
              <a:t>  • Child Details (Cấp 2): Screen 02 (Chi tiết dự án), Screen 03 (Apply Sheet), Screen 04 (Xác nhận gửi).</a:t>
            </a:r>
          </a:p>
          <a:p>
            <a:pPr lvl="1">
              <a:spcAft>
                <a:spcPts val="400"/>
              </a:spcAft>
              <a:defRPr sz="1250">
                <a:solidFill>
                  <a:srgbClr val="94A3B8"/>
                </a:solidFill>
                <a:latin typeface="Arial"/>
              </a:defRPr>
            </a:pPr>
            <a:r>
              <a:t>  • Interactive Modals (Cấp 3): Screen 06 (Lên lịch phỏng vấn), Screen 07 (Lịch hẹn hoàn tất).</a:t>
            </a:r>
          </a:p>
          <a:p>
            <a:pPr>
              <a:spcAft>
                <a:spcPts val="600"/>
              </a:spcAft>
              <a:defRPr sz="1300">
                <a:solidFill>
                  <a:srgbClr val="F8FAFC"/>
                </a:solidFill>
                <a:latin typeface="Arial"/>
              </a:defRPr>
            </a:pPr>
            <a:r>
              <a:t>Quy tắc 3 lần chạm (Rule of 3 taps): Mọi tác vụ cốt lõi đều hoàn tất trong tối đa 3 chạm.</a:t>
            </a:r>
          </a:p>
          <a:p>
            <a:pPr>
              <a:spcAft>
                <a:spcPts val="600"/>
              </a:spcAft>
              <a:defRPr sz="1300">
                <a:solidFill>
                  <a:srgbClr val="F8FAFC"/>
                </a:solidFill>
                <a:latin typeface="Arial"/>
              </a:defRPr>
            </a:pPr>
            <a:r>
              <a:t>Công thái học: Toàn bộ nút chính nằm trong vùng ngón tay cái (Thumb Zone) khi cầm 1 tay.</a:t>
            </a:r>
          </a:p>
        </p:txBody>
      </p:sp>
      <p:sp>
        <p:nvSpPr>
          <p:cNvPr id="6" name="Rounded Rectangle 5"/>
          <p:cNvSpPr/>
          <p:nvPr/>
        </p:nvSpPr>
        <p:spPr>
          <a:xfrm>
            <a:off x="7863840" y="1325880"/>
            <a:ext cx="3779215" cy="5120640"/>
          </a:xfrm>
          <a:prstGeom prst="round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titch_canvas_screen_01_02_03.png"/>
          <p:cNvPicPr>
            <a:picLocks noChangeAspect="1"/>
          </p:cNvPicPr>
          <p:nvPr/>
        </p:nvPicPr>
        <p:blipFill>
          <a:blip r:embed="rId2"/>
          <a:stretch>
            <a:fillRect/>
          </a:stretch>
        </p:blipFill>
        <p:spPr>
          <a:xfrm>
            <a:off x="8092440" y="1508760"/>
            <a:ext cx="3322015" cy="176482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65760"/>
            <a:ext cx="11094415" cy="777240"/>
          </a:xfrm>
          <a:prstGeom prst="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3B82F6"/>
                </a:solidFill>
                <a:latin typeface="Arial"/>
              </a:defRPr>
            </a:pPr>
            <a:r>
              <a:t>SLIDE 04 | THREE USER FLOWS &amp; PHỤC HỒI LỖI</a:t>
            </a:r>
          </a:p>
        </p:txBody>
      </p:sp>
      <p:sp>
        <p:nvSpPr>
          <p:cNvPr id="4" name="TextBox 3"/>
          <p:cNvSpPr txBox="1"/>
          <p:nvPr/>
        </p:nvSpPr>
        <p:spPr>
          <a:xfrm>
            <a:off x="8412480" y="438912"/>
            <a:ext cx="3108960" cy="594360"/>
          </a:xfrm>
          <a:prstGeom prst="rect">
            <a:avLst/>
          </a:prstGeom>
          <a:noFill/>
        </p:spPr>
        <p:txBody>
          <a:bodyPr wrap="none">
            <a:spAutoFit/>
          </a:bodyPr>
          <a:lstStyle/>
          <a:p>
            <a:pPr algn="r">
              <a:defRPr sz="1300" b="1">
                <a:solidFill>
                  <a:srgbClr val="10B981"/>
                </a:solidFill>
                <a:latin typeface="Arial"/>
              </a:defRPr>
            </a:pPr>
            <a:r>
              <a:t>👤 Phan Anh Tuấn</a:t>
            </a:r>
          </a:p>
        </p:txBody>
      </p:sp>
      <p:sp>
        <p:nvSpPr>
          <p:cNvPr id="5" name="Rounded Rectangle 4"/>
          <p:cNvSpPr/>
          <p:nvPr/>
        </p:nvSpPr>
        <p:spPr>
          <a:xfrm>
            <a:off x="548640" y="1325880"/>
            <a:ext cx="7132320" cy="5120640"/>
          </a:xfrm>
          <a:prstGeom prst="round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tIns="274320" lIns="320040" rIns="320040" bIns="274320"/>
          <a:lstStyle/>
          <a:p>
            <a:pPr algn="ctr">
              <a:spcBef>
                <a:spcPts val="600"/>
              </a:spcBef>
              <a:spcAft>
                <a:spcPts val="400"/>
              </a:spcAft>
              <a:defRPr sz="1400" b="1">
                <a:solidFill>
                  <a:srgbClr val="3B82F6"/>
                </a:solidFill>
                <a:latin typeface="Arial"/>
              </a:defRPr>
            </a:pPr>
            <a:r>
              <a:t>Flow 1: Happy Path (Ứng tuyển dự án trong 60s):</a:t>
            </a:r>
          </a:p>
          <a:p>
            <a:pPr lvl="1">
              <a:spcAft>
                <a:spcPts val="400"/>
              </a:spcAft>
              <a:defRPr sz="1250">
                <a:solidFill>
                  <a:srgbClr val="94A3B8"/>
                </a:solidFill>
                <a:latin typeface="Arial"/>
              </a:defRPr>
            </a:pPr>
            <a:r>
              <a:t>  Khám phá (Screen 01) -&gt; Xem chi tiết (Screen 02) -&gt; Mở Apply Sheet (Screen 03) -&gt; Nộp đơn thành công (Screen 04) -&gt; Tracker (Screen 05).</a:t>
            </a:r>
          </a:p>
          <a:p>
            <a:pPr>
              <a:spcBef>
                <a:spcPts val="600"/>
              </a:spcBef>
              <a:spcAft>
                <a:spcPts val="400"/>
              </a:spcAft>
              <a:defRPr sz="1400" b="1">
                <a:solidFill>
                  <a:srgbClr val="3B82F6"/>
                </a:solidFill>
                <a:latin typeface="Arial"/>
              </a:defRPr>
            </a:pPr>
            <a:r>
              <a:t>Flow 2: Alternate Path (Trưởng nhóm hẹn Chemistry Call):</a:t>
            </a:r>
          </a:p>
          <a:p>
            <a:pPr lvl="1">
              <a:spcAft>
                <a:spcPts val="400"/>
              </a:spcAft>
              <a:defRPr sz="1250">
                <a:solidFill>
                  <a:srgbClr val="94A3B8"/>
                </a:solidFill>
                <a:latin typeface="Arial"/>
              </a:defRPr>
            </a:pPr>
            <a:r>
              <a:t>  Tracker (Screen 05) -&gt; Xem hồ sơ ứng viên -&gt; Bấm Hẹn trao đổi (Screen 06) -&gt; Xác nhận lịch hẹn (Screen 07).</a:t>
            </a:r>
          </a:p>
          <a:p>
            <a:pPr>
              <a:spcBef>
                <a:spcPts val="600"/>
              </a:spcBef>
              <a:spcAft>
                <a:spcPts val="400"/>
              </a:spcAft>
              <a:defRPr sz="1400" b="1">
                <a:solidFill>
                  <a:srgbClr val="3B82F6"/>
                </a:solidFill>
                <a:latin typeface="Arial"/>
              </a:defRPr>
            </a:pPr>
            <a:r>
              <a:t>Flow 3: Error &amp; Recovery (Phục hồi khi tìm kiếm 0 kết quả):</a:t>
            </a:r>
          </a:p>
          <a:p>
            <a:pPr lvl="1">
              <a:spcAft>
                <a:spcPts val="400"/>
              </a:spcAft>
              <a:defRPr sz="1250">
                <a:solidFill>
                  <a:srgbClr val="94A3B8"/>
                </a:solidFill>
                <a:latin typeface="Arial"/>
              </a:defRPr>
            </a:pPr>
            <a:r>
              <a:t>  Tìm từ khóa sai/bộ lọc quá hẹp -&gt; Screen 08 (Empty State) -&gt; Nhấn nút "Xóa bộ lọc" -&gt; Phục hồi về danh sách dự án đầy đủ trong 1 chạm.</a:t>
            </a:r>
          </a:p>
          <a:p>
            <a:pPr>
              <a:spcAft>
                <a:spcPts val="600"/>
              </a:spcAft>
              <a:defRPr sz="1300">
                <a:solidFill>
                  <a:srgbClr val="F8FAFC"/>
                </a:solidFill>
                <a:latin typeface="Arial"/>
              </a:defRPr>
            </a:pPr>
            <a:r>
              <a:t>Nguyên tắc thiết kế: Zero Dead-Ends (Tuyệt đối không có ngõ cụt).</a:t>
            </a:r>
          </a:p>
        </p:txBody>
      </p:sp>
      <p:sp>
        <p:nvSpPr>
          <p:cNvPr id="6" name="Rounded Rectangle 5"/>
          <p:cNvSpPr/>
          <p:nvPr/>
        </p:nvSpPr>
        <p:spPr>
          <a:xfrm>
            <a:off x="7863840" y="1325880"/>
            <a:ext cx="3779215" cy="5120640"/>
          </a:xfrm>
          <a:prstGeom prst="round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creen_08_empty_state.png"/>
          <p:cNvPicPr>
            <a:picLocks noChangeAspect="1"/>
          </p:cNvPicPr>
          <p:nvPr/>
        </p:nvPicPr>
        <p:blipFill>
          <a:blip r:embed="rId2"/>
          <a:stretch>
            <a:fillRect/>
          </a:stretch>
        </p:blipFill>
        <p:spPr>
          <a:xfrm>
            <a:off x="8092440" y="1508760"/>
            <a:ext cx="3322015" cy="14056791"/>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65760"/>
            <a:ext cx="11094415" cy="777240"/>
          </a:xfrm>
          <a:prstGeom prst="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3B82F6"/>
                </a:solidFill>
                <a:latin typeface="Arial"/>
              </a:defRPr>
            </a:pPr>
            <a:r>
              <a:t>SLIDE 05 | AI UI GENERATION (PROMPT-TO-UI VỚI STITCH)</a:t>
            </a:r>
          </a:p>
        </p:txBody>
      </p:sp>
      <p:sp>
        <p:nvSpPr>
          <p:cNvPr id="4" name="TextBox 3"/>
          <p:cNvSpPr txBox="1"/>
          <p:nvPr/>
        </p:nvSpPr>
        <p:spPr>
          <a:xfrm>
            <a:off x="8412480" y="438912"/>
            <a:ext cx="3108960" cy="594360"/>
          </a:xfrm>
          <a:prstGeom prst="rect">
            <a:avLst/>
          </a:prstGeom>
          <a:noFill/>
        </p:spPr>
        <p:txBody>
          <a:bodyPr wrap="none">
            <a:spAutoFit/>
          </a:bodyPr>
          <a:lstStyle/>
          <a:p>
            <a:pPr algn="r">
              <a:defRPr sz="1300" b="1">
                <a:solidFill>
                  <a:srgbClr val="10B981"/>
                </a:solidFill>
                <a:latin typeface="Arial"/>
              </a:defRPr>
            </a:pPr>
            <a:r>
              <a:t>👤 Phan Anh Tuấn</a:t>
            </a:r>
          </a:p>
        </p:txBody>
      </p:sp>
      <p:sp>
        <p:nvSpPr>
          <p:cNvPr id="5" name="Rounded Rectangle 4"/>
          <p:cNvSpPr/>
          <p:nvPr/>
        </p:nvSpPr>
        <p:spPr>
          <a:xfrm>
            <a:off x="548640" y="1325880"/>
            <a:ext cx="7132320" cy="5120640"/>
          </a:xfrm>
          <a:prstGeom prst="round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tIns="274320" lIns="320040" rIns="320040" bIns="274320"/>
          <a:lstStyle/>
          <a:p>
            <a:pPr algn="ctr">
              <a:spcAft>
                <a:spcPts val="600"/>
              </a:spcAft>
              <a:defRPr sz="1300">
                <a:solidFill>
                  <a:srgbClr val="F8FAFC"/>
                </a:solidFill>
                <a:latin typeface="Arial"/>
              </a:defRPr>
            </a:pPr>
            <a:r>
              <a:t>Công cụ sử dụng: Google Stitch (AI UI Generator chuyên sâu cho Mobile).</a:t>
            </a:r>
          </a:p>
          <a:p>
            <a:pPr>
              <a:spcBef>
                <a:spcPts val="600"/>
              </a:spcBef>
              <a:spcAft>
                <a:spcPts val="400"/>
              </a:spcAft>
              <a:defRPr sz="1400" b="1">
                <a:solidFill>
                  <a:srgbClr val="3B82F6"/>
                </a:solidFill>
                <a:latin typeface="Arial"/>
              </a:defRPr>
            </a:pPr>
            <a:r>
              <a:t>Kỹ thuật Prompt Engineering 5 Thành phần chuẩn hóa:</a:t>
            </a:r>
          </a:p>
          <a:p>
            <a:pPr lvl="1">
              <a:spcAft>
                <a:spcPts val="400"/>
              </a:spcAft>
              <a:defRPr sz="1250">
                <a:solidFill>
                  <a:srgbClr val="94A3B8"/>
                </a:solidFill>
                <a:latin typeface="Arial"/>
              </a:defRPr>
            </a:pPr>
            <a:r>
              <a:t>  1. Persona &amp; Role: UX Designer thiết kế app cho sinh viên IT (Lê Quốc Huy).</a:t>
            </a:r>
          </a:p>
          <a:p>
            <a:pPr lvl="1">
              <a:spcAft>
                <a:spcPts val="400"/>
              </a:spcAft>
              <a:defRPr sz="1250">
                <a:solidFill>
                  <a:srgbClr val="94A3B8"/>
                </a:solidFill>
                <a:latin typeface="Arial"/>
              </a:defRPr>
            </a:pPr>
            <a:r>
              <a:t>  2. Task: Sinh màn hình khám phá dự án, thẻ kỹ năng và Bottom Sheet ứng tuyển.</a:t>
            </a:r>
          </a:p>
          <a:p>
            <a:pPr lvl="1">
              <a:spcAft>
                <a:spcPts val="400"/>
              </a:spcAft>
              <a:defRPr sz="1250">
                <a:solidFill>
                  <a:srgbClr val="94A3B8"/>
                </a:solidFill>
                <a:latin typeface="Arial"/>
              </a:defRPr>
            </a:pPr>
            <a:r>
              <a:t>  3. Platform: Android Mobile chuẩn 360x800 dp, Material 3 grid 8dp.</a:t>
            </a:r>
          </a:p>
          <a:p>
            <a:pPr lvl="1">
              <a:spcAft>
                <a:spcPts val="400"/>
              </a:spcAft>
              <a:defRPr sz="1250">
                <a:solidFill>
                  <a:srgbClr val="94A3B8"/>
                </a:solidFill>
                <a:latin typeface="Arial"/>
              </a:defRPr>
            </a:pPr>
            <a:r>
              <a:t>  4. Constraints: WCAG 2.1 AA (tương phản &gt;=4.5:1, vùng chạm &gt;=48dp), hiển thị số giờ cam kết.</a:t>
            </a:r>
          </a:p>
          <a:p>
            <a:pPr lvl="1">
              <a:spcAft>
                <a:spcPts val="400"/>
              </a:spcAft>
              <a:defRPr sz="1250">
                <a:solidFill>
                  <a:srgbClr val="94A3B8"/>
                </a:solidFill>
                <a:latin typeface="Arial"/>
              </a:defRPr>
            </a:pPr>
            <a:r>
              <a:t>  5. Style &amp; Tone: Hiện đại, uy tín, Deep Navy (#0F172A) &amp; Emerald (#10B981).</a:t>
            </a:r>
          </a:p>
          <a:p>
            <a:pPr>
              <a:spcAft>
                <a:spcPts val="600"/>
              </a:spcAft>
              <a:defRPr sz="1300">
                <a:solidFill>
                  <a:srgbClr val="F8FAFC"/>
                </a:solidFill>
                <a:latin typeface="Arial"/>
              </a:defRPr>
            </a:pPr>
            <a:r>
              <a:t>Kết quả: Sinh nhanh 8 màn hình phôi cơ bản làm nền tảng phản biện.</a:t>
            </a:r>
          </a:p>
        </p:txBody>
      </p:sp>
      <p:sp>
        <p:nvSpPr>
          <p:cNvPr id="6" name="Rounded Rectangle 5"/>
          <p:cNvSpPr/>
          <p:nvPr/>
        </p:nvSpPr>
        <p:spPr>
          <a:xfrm>
            <a:off x="7863840" y="1325880"/>
            <a:ext cx="3779215" cy="5120640"/>
          </a:xfrm>
          <a:prstGeom prst="round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titch_prompt_input_evidence.png"/>
          <p:cNvPicPr>
            <a:picLocks noChangeAspect="1"/>
          </p:cNvPicPr>
          <p:nvPr/>
        </p:nvPicPr>
        <p:blipFill>
          <a:blip r:embed="rId2"/>
          <a:stretch>
            <a:fillRect/>
          </a:stretch>
        </p:blipFill>
        <p:spPr>
          <a:xfrm>
            <a:off x="8092440" y="1508760"/>
            <a:ext cx="3322015" cy="176482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65760"/>
            <a:ext cx="11094415" cy="777240"/>
          </a:xfrm>
          <a:prstGeom prst="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3B82F6"/>
                </a:solidFill>
                <a:latin typeface="Arial"/>
              </a:defRPr>
            </a:pPr>
            <a:r>
              <a:t>SLIDE 06 | AI ITERATIONS &amp; PHẢN BIỆN USABILITY HEURISTICS</a:t>
            </a:r>
          </a:p>
        </p:txBody>
      </p:sp>
      <p:sp>
        <p:nvSpPr>
          <p:cNvPr id="4" name="TextBox 3"/>
          <p:cNvSpPr txBox="1"/>
          <p:nvPr/>
        </p:nvSpPr>
        <p:spPr>
          <a:xfrm>
            <a:off x="8412480" y="438912"/>
            <a:ext cx="3108960" cy="594360"/>
          </a:xfrm>
          <a:prstGeom prst="rect">
            <a:avLst/>
          </a:prstGeom>
          <a:noFill/>
        </p:spPr>
        <p:txBody>
          <a:bodyPr wrap="none">
            <a:spAutoFit/>
          </a:bodyPr>
          <a:lstStyle/>
          <a:p>
            <a:pPr algn="r">
              <a:defRPr sz="1300" b="1">
                <a:solidFill>
                  <a:srgbClr val="10B981"/>
                </a:solidFill>
                <a:latin typeface="Arial"/>
              </a:defRPr>
            </a:pPr>
            <a:r>
              <a:t>👤 Phan Anh Tuấn</a:t>
            </a:r>
          </a:p>
        </p:txBody>
      </p:sp>
      <p:sp>
        <p:nvSpPr>
          <p:cNvPr id="5" name="Rounded Rectangle 4"/>
          <p:cNvSpPr/>
          <p:nvPr/>
        </p:nvSpPr>
        <p:spPr>
          <a:xfrm>
            <a:off x="548640" y="1325880"/>
            <a:ext cx="7132320" cy="5120640"/>
          </a:xfrm>
          <a:prstGeom prst="round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tIns="274320" lIns="320040" rIns="320040" bIns="274320"/>
          <a:lstStyle/>
          <a:p>
            <a:pPr algn="ctr">
              <a:spcBef>
                <a:spcPts val="600"/>
              </a:spcBef>
              <a:spcAft>
                <a:spcPts val="400"/>
              </a:spcAft>
              <a:defRPr sz="1400" b="1">
                <a:solidFill>
                  <a:srgbClr val="3B82F6"/>
                </a:solidFill>
                <a:latin typeface="Arial"/>
              </a:defRPr>
            </a:pPr>
            <a:r>
              <a:t>5 Lỗi Usability nghiêm trọng được phát hiện từ bản phôi AI:</a:t>
            </a:r>
          </a:p>
          <a:p>
            <a:pPr lvl="1">
              <a:spcAft>
                <a:spcPts val="400"/>
              </a:spcAft>
              <a:defRPr sz="1250">
                <a:solidFill>
                  <a:srgbClr val="94A3B8"/>
                </a:solidFill>
                <a:latin typeface="Arial"/>
              </a:defRPr>
            </a:pPr>
            <a:r>
              <a:t>  • H1 (Visibility): Nút Apply ban đầu không có loading feedback khi nhấn.</a:t>
            </a:r>
          </a:p>
          <a:p>
            <a:pPr lvl="1">
              <a:spcAft>
                <a:spcPts val="400"/>
              </a:spcAft>
              <a:defRPr sz="1250">
                <a:solidFill>
                  <a:srgbClr val="94A3B8"/>
                </a:solidFill>
                <a:latin typeface="Arial"/>
              </a:defRPr>
            </a:pPr>
            <a:r>
              <a:t>  • H3 (User Freedom): Modal Sheet thiếu nút đóng (X) hoặc cử chỉ kéo xuống để hủy.</a:t>
            </a:r>
          </a:p>
          <a:p>
            <a:pPr lvl="1">
              <a:spcAft>
                <a:spcPts val="400"/>
              </a:spcAft>
              <a:defRPr sz="1250">
                <a:solidFill>
                  <a:srgbClr val="94A3B8"/>
                </a:solidFill>
                <a:latin typeface="Arial"/>
              </a:defRPr>
            </a:pPr>
            <a:r>
              <a:t>  • H5 (Error Prevention): Nút Xác nhận gửi đặt sát nút Hủy, dễ bấm nhầm.</a:t>
            </a:r>
          </a:p>
          <a:p>
            <a:pPr lvl="1">
              <a:spcAft>
                <a:spcPts val="400"/>
              </a:spcAft>
              <a:defRPr sz="1250">
                <a:solidFill>
                  <a:srgbClr val="94A3B8"/>
                </a:solidFill>
                <a:latin typeface="Arial"/>
              </a:defRPr>
            </a:pPr>
            <a:r>
              <a:t>  • H7 (Efficiency): Thiếu bộ lọc theo số giờ cam kết của ứng viên.</a:t>
            </a:r>
          </a:p>
          <a:p>
            <a:pPr lvl="1">
              <a:spcAft>
                <a:spcPts val="400"/>
              </a:spcAft>
              <a:defRPr sz="1250">
                <a:solidFill>
                  <a:srgbClr val="94A3B8"/>
                </a:solidFill>
                <a:latin typeface="Arial"/>
              </a:defRPr>
            </a:pPr>
            <a:r>
              <a:t>  • WCAG Contrast: Màu chữ phụ #94A3B8 trên nền trắng chỉ đạt 2.8:1 (vi phạm AA).</a:t>
            </a:r>
          </a:p>
          <a:p>
            <a:pPr>
              <a:spcBef>
                <a:spcPts val="600"/>
              </a:spcBef>
              <a:spcAft>
                <a:spcPts val="400"/>
              </a:spcAft>
              <a:defRPr sz="1400" b="1">
                <a:solidFill>
                  <a:srgbClr val="3B82F6"/>
                </a:solidFill>
                <a:latin typeface="Arial"/>
              </a:defRPr>
            </a:pPr>
            <a:r>
              <a:t>3 Vòng lặp cải tiến có mục tiêu rõ rệt:</a:t>
            </a:r>
          </a:p>
          <a:p>
            <a:pPr lvl="1">
              <a:spcAft>
                <a:spcPts val="400"/>
              </a:spcAft>
              <a:defRPr sz="1250">
                <a:solidFill>
                  <a:srgbClr val="94A3B8"/>
                </a:solidFill>
                <a:latin typeface="Arial"/>
              </a:defRPr>
            </a:pPr>
            <a:r>
              <a:t>  • Iteration 1: Tái cấu trúc Visual Hierarchy, đưa Match % lên vị trí trọng tâm.</a:t>
            </a:r>
          </a:p>
          <a:p>
            <a:pPr lvl="1">
              <a:spcAft>
                <a:spcPts val="400"/>
              </a:spcAft>
              <a:defRPr sz="1250">
                <a:solidFill>
                  <a:srgbClr val="94A3B8"/>
                </a:solidFill>
                <a:latin typeface="Arial"/>
              </a:defRPr>
            </a:pPr>
            <a:r>
              <a:t>  • Iteration 2: Chuẩn hóa Accessibility, nâng vùng chạm lên &gt;=48x48 dp, contrast 5.2:1.</a:t>
            </a:r>
          </a:p>
          <a:p>
            <a:pPr lvl="1">
              <a:spcAft>
                <a:spcPts val="400"/>
              </a:spcAft>
              <a:defRPr sz="1250">
                <a:solidFill>
                  <a:srgbClr val="94A3B8"/>
                </a:solidFill>
                <a:latin typeface="Arial"/>
              </a:defRPr>
            </a:pPr>
            <a:r>
              <a:t>  • Iteration 3: Bổ sung trọn vẹn Empty State và Skeleton Loading.</a:t>
            </a:r>
          </a:p>
        </p:txBody>
      </p:sp>
      <p:sp>
        <p:nvSpPr>
          <p:cNvPr id="6" name="Rounded Rectangle 5"/>
          <p:cNvSpPr/>
          <p:nvPr/>
        </p:nvSpPr>
        <p:spPr>
          <a:xfrm>
            <a:off x="7863840" y="1325880"/>
            <a:ext cx="3779215" cy="5120640"/>
          </a:xfrm>
          <a:prstGeom prst="round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igma_canvas_7_screens.png"/>
          <p:cNvPicPr>
            <a:picLocks noChangeAspect="1"/>
          </p:cNvPicPr>
          <p:nvPr/>
        </p:nvPicPr>
        <p:blipFill>
          <a:blip r:embed="rId2"/>
          <a:stretch>
            <a:fillRect/>
          </a:stretch>
        </p:blipFill>
        <p:spPr>
          <a:xfrm>
            <a:off x="8092440" y="1508760"/>
            <a:ext cx="3322015" cy="176482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65760"/>
            <a:ext cx="11094415" cy="777240"/>
          </a:xfrm>
          <a:prstGeom prst="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3B82F6"/>
                </a:solidFill>
                <a:latin typeface="Arial"/>
              </a:defRPr>
            </a:pPr>
            <a:r>
              <a:t>SLIDE 07 | MA TRẬN QUYẾT ĐỊNH THIẾT KẾ (ACCEPT / MODIFY / REJECT)</a:t>
            </a:r>
          </a:p>
        </p:txBody>
      </p:sp>
      <p:sp>
        <p:nvSpPr>
          <p:cNvPr id="4" name="TextBox 3"/>
          <p:cNvSpPr txBox="1"/>
          <p:nvPr/>
        </p:nvSpPr>
        <p:spPr>
          <a:xfrm>
            <a:off x="8412480" y="438912"/>
            <a:ext cx="3108960" cy="594360"/>
          </a:xfrm>
          <a:prstGeom prst="rect">
            <a:avLst/>
          </a:prstGeom>
          <a:noFill/>
        </p:spPr>
        <p:txBody>
          <a:bodyPr wrap="none">
            <a:spAutoFit/>
          </a:bodyPr>
          <a:lstStyle/>
          <a:p>
            <a:pPr algn="r">
              <a:defRPr sz="1300" b="1">
                <a:solidFill>
                  <a:srgbClr val="10B981"/>
                </a:solidFill>
                <a:latin typeface="Arial"/>
              </a:defRPr>
            </a:pPr>
            <a:r>
              <a:t>👤 Đỗ Anh Minh</a:t>
            </a:r>
          </a:p>
        </p:txBody>
      </p:sp>
      <p:sp>
        <p:nvSpPr>
          <p:cNvPr id="5" name="Rounded Rectangle 4"/>
          <p:cNvSpPr/>
          <p:nvPr/>
        </p:nvSpPr>
        <p:spPr>
          <a:xfrm>
            <a:off x="548640" y="1325880"/>
            <a:ext cx="7132320" cy="5120640"/>
          </a:xfrm>
          <a:prstGeom prst="round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tIns="274320" lIns="320040" rIns="320040" bIns="274320"/>
          <a:lstStyle/>
          <a:p>
            <a:pPr algn="ctr">
              <a:spcBef>
                <a:spcPts val="600"/>
              </a:spcBef>
              <a:spcAft>
                <a:spcPts val="400"/>
              </a:spcAft>
              <a:defRPr sz="1400" b="1">
                <a:solidFill>
                  <a:srgbClr val="3B82F6"/>
                </a:solidFill>
                <a:latin typeface="Arial"/>
              </a:defRPr>
            </a:pPr>
            <a:r>
              <a:t>Bằng chứng năng lực phản biện thiết kế của Nhóm 4:</a:t>
            </a:r>
          </a:p>
          <a:p>
            <a:pPr lvl="1">
              <a:spcAft>
                <a:spcPts val="400"/>
              </a:spcAft>
              <a:defRPr sz="1250">
                <a:solidFill>
                  <a:srgbClr val="94A3B8"/>
                </a:solidFill>
                <a:latin typeface="Arial"/>
              </a:defRPr>
            </a:pPr>
            <a:r>
              <a:t>  • ACCEPT - Thẻ Skill Tags: Bố cục dạng thẻ chip trực quan, quét nhanh kỹ năng -&gt; Giữ nguyên, bổ sung thêm % tương thích.</a:t>
            </a:r>
          </a:p>
          <a:p>
            <a:pPr lvl="1">
              <a:spcAft>
                <a:spcPts val="400"/>
              </a:spcAft>
              <a:defRPr sz="1250">
                <a:solidFill>
                  <a:srgbClr val="94A3B8"/>
                </a:solidFill>
                <a:latin typeface="Arial"/>
              </a:defRPr>
            </a:pPr>
            <a:r>
              <a:t>  • MODIFY - Nút Apply trôi nổi: Nút bấm trôi nổi giữa card, khó bấm 1 ngón cái -&gt; Chuyển thành Sticky Bottom Dock (48x56 dp) cố định đáy.</a:t>
            </a:r>
          </a:p>
          <a:p>
            <a:pPr lvl="1">
              <a:spcAft>
                <a:spcPts val="400"/>
              </a:spcAft>
              <a:defRPr sz="1250">
                <a:solidFill>
                  <a:srgbClr val="94A3B8"/>
                </a:solidFill>
                <a:latin typeface="Arial"/>
              </a:defRPr>
            </a:pPr>
            <a:r>
              <a:t>  • REJECT - Pop-up Dialog toàn màn hình: Che mất ngữ cảnh dự án, gây gián đoạn -&gt; Thay bằng Modal Bottom Sheet kéo vuốt nửa màn hình.</a:t>
            </a:r>
          </a:p>
          <a:p>
            <a:pPr lvl="1">
              <a:spcAft>
                <a:spcPts val="400"/>
              </a:spcAft>
              <a:defRPr sz="1250">
                <a:solidFill>
                  <a:srgbClr val="94A3B8"/>
                </a:solidFill>
                <a:latin typeface="Arial"/>
              </a:defRPr>
            </a:pPr>
            <a:r>
              <a:t>  • REJECT - Báo trạng thái chỉ bằng màu sắc: Vi phạm trợ năng cho người mù màu -&gt; Bổ sung Icon minh họa + Text nhãn rõ ràng ("Đã duyệt").</a:t>
            </a:r>
          </a:p>
        </p:txBody>
      </p:sp>
      <p:sp>
        <p:nvSpPr>
          <p:cNvPr id="6" name="Rounded Rectangle 5"/>
          <p:cNvSpPr/>
          <p:nvPr/>
        </p:nvSpPr>
        <p:spPr>
          <a:xfrm>
            <a:off x="7863840" y="1325880"/>
            <a:ext cx="3779215" cy="5120640"/>
          </a:xfrm>
          <a:prstGeom prst="round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creen_03_apply_sheet.png"/>
          <p:cNvPicPr>
            <a:picLocks noChangeAspect="1"/>
          </p:cNvPicPr>
          <p:nvPr/>
        </p:nvPicPr>
        <p:blipFill>
          <a:blip r:embed="rId2"/>
          <a:stretch>
            <a:fillRect/>
          </a:stretch>
        </p:blipFill>
        <p:spPr>
          <a:xfrm>
            <a:off x="8092440" y="1508760"/>
            <a:ext cx="3322015" cy="12552559"/>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65760"/>
            <a:ext cx="11094415" cy="777240"/>
          </a:xfrm>
          <a:prstGeom prst="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3B82F6"/>
                </a:solidFill>
                <a:latin typeface="Arial"/>
              </a:defRPr>
            </a:pPr>
            <a:r>
              <a:t>SLIDE 08 | WIREFRAME -&gt; FINAL UI (8 MÀN HÌNH HOÀN CHỈNH)</a:t>
            </a:r>
          </a:p>
        </p:txBody>
      </p:sp>
      <p:sp>
        <p:nvSpPr>
          <p:cNvPr id="4" name="TextBox 3"/>
          <p:cNvSpPr txBox="1"/>
          <p:nvPr/>
        </p:nvSpPr>
        <p:spPr>
          <a:xfrm>
            <a:off x="8412480" y="438912"/>
            <a:ext cx="3108960" cy="594360"/>
          </a:xfrm>
          <a:prstGeom prst="rect">
            <a:avLst/>
          </a:prstGeom>
          <a:noFill/>
        </p:spPr>
        <p:txBody>
          <a:bodyPr wrap="none">
            <a:spAutoFit/>
          </a:bodyPr>
          <a:lstStyle/>
          <a:p>
            <a:pPr algn="r">
              <a:defRPr sz="1300" b="1">
                <a:solidFill>
                  <a:srgbClr val="10B981"/>
                </a:solidFill>
                <a:latin typeface="Arial"/>
              </a:defRPr>
            </a:pPr>
            <a:r>
              <a:t>👤 Đỗ Anh Minh</a:t>
            </a:r>
          </a:p>
        </p:txBody>
      </p:sp>
      <p:sp>
        <p:nvSpPr>
          <p:cNvPr id="5" name="Rounded Rectangle 4"/>
          <p:cNvSpPr/>
          <p:nvPr/>
        </p:nvSpPr>
        <p:spPr>
          <a:xfrm>
            <a:off x="548640" y="1325880"/>
            <a:ext cx="7132320" cy="5120640"/>
          </a:xfrm>
          <a:prstGeom prst="round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tIns="274320" lIns="320040" rIns="320040" bIns="274320"/>
          <a:lstStyle/>
          <a:p>
            <a:pPr algn="ctr">
              <a:spcBef>
                <a:spcPts val="600"/>
              </a:spcBef>
              <a:spcAft>
                <a:spcPts val="400"/>
              </a:spcAft>
              <a:defRPr sz="1400" b="1">
                <a:solidFill>
                  <a:srgbClr val="3B82F6"/>
                </a:solidFill>
                <a:latin typeface="Arial"/>
              </a:defRPr>
            </a:pPr>
            <a:r>
              <a:t>Trưng bày 8 Màn hình Độc lập (Đáp ứng chuẩn kiểm định C6 môn học):</a:t>
            </a:r>
          </a:p>
          <a:p>
            <a:pPr lvl="1">
              <a:spcAft>
                <a:spcPts val="400"/>
              </a:spcAft>
              <a:defRPr sz="1250">
                <a:solidFill>
                  <a:srgbClr val="94A3B8"/>
                </a:solidFill>
                <a:latin typeface="Arial"/>
              </a:defRPr>
            </a:pPr>
            <a:r>
              <a:t>  1. Screen 01: Discovery Feed (Khám phá dự án &amp; bộ lọc)</a:t>
            </a:r>
          </a:p>
          <a:p>
            <a:pPr lvl="1">
              <a:spcAft>
                <a:spcPts val="400"/>
              </a:spcAft>
              <a:defRPr sz="1250">
                <a:solidFill>
                  <a:srgbClr val="94A3B8"/>
                </a:solidFill>
                <a:latin typeface="Arial"/>
              </a:defRPr>
            </a:pPr>
            <a:r>
              <a:t>  2. Screen 02: Project Detail (Chi tiết dự án &amp; Skill Matrix)</a:t>
            </a:r>
          </a:p>
          <a:p>
            <a:pPr lvl="1">
              <a:spcAft>
                <a:spcPts val="400"/>
              </a:spcAft>
              <a:defRPr sz="1250">
                <a:solidFill>
                  <a:srgbClr val="94A3B8"/>
                </a:solidFill>
                <a:latin typeface="Arial"/>
              </a:defRPr>
            </a:pPr>
            <a:r>
              <a:t>  3. Screen 03: Apply Modal Sheet (Điền đơn &amp; cam kết giờ)</a:t>
            </a:r>
          </a:p>
          <a:p>
            <a:pPr lvl="1">
              <a:spcAft>
                <a:spcPts val="400"/>
              </a:spcAft>
              <a:defRPr sz="1250">
                <a:solidFill>
                  <a:srgbClr val="94A3B8"/>
                </a:solidFill>
                <a:latin typeface="Arial"/>
              </a:defRPr>
            </a:pPr>
            <a:r>
              <a:t>  4. Screen 04: Application Submitted (Xác nhận gửi đơn thành công)</a:t>
            </a:r>
          </a:p>
          <a:p>
            <a:pPr lvl="1">
              <a:spcAft>
                <a:spcPts val="400"/>
              </a:spcAft>
              <a:defRPr sz="1250">
                <a:solidFill>
                  <a:srgbClr val="94A3B8"/>
                </a:solidFill>
                <a:latin typeface="Arial"/>
              </a:defRPr>
            </a:pPr>
            <a:r>
              <a:t>  5. Screen 05: My Applications Tracker (Quản lý tiến độ đơn)</a:t>
            </a:r>
          </a:p>
          <a:p>
            <a:pPr lvl="1">
              <a:spcAft>
                <a:spcPts val="400"/>
              </a:spcAft>
              <a:defRPr sz="1250">
                <a:solidFill>
                  <a:srgbClr val="94A3B8"/>
                </a:solidFill>
                <a:latin typeface="Arial"/>
              </a:defRPr>
            </a:pPr>
            <a:r>
              <a:t>  6. Screen 06: Chemistry Call Scheduler (Lên lịch phỏng vấn)</a:t>
            </a:r>
          </a:p>
          <a:p>
            <a:pPr lvl="1">
              <a:spcAft>
                <a:spcPts val="400"/>
              </a:spcAft>
              <a:defRPr sz="1250">
                <a:solidFill>
                  <a:srgbClr val="94A3B8"/>
                </a:solidFill>
                <a:latin typeface="Arial"/>
              </a:defRPr>
            </a:pPr>
            <a:r>
              <a:t>  7. Screen 07: Chemistry Call Confirmed (Lịch hẹn hoàn tất)</a:t>
            </a:r>
          </a:p>
          <a:p>
            <a:pPr lvl="1">
              <a:spcAft>
                <a:spcPts val="400"/>
              </a:spcAft>
              <a:defRPr sz="1250">
                <a:solidFill>
                  <a:srgbClr val="94A3B8"/>
                </a:solidFill>
                <a:latin typeface="Arial"/>
              </a:defRPr>
            </a:pPr>
            <a:r>
              <a:t>  8. Screen 08: Empty State &amp; Recovery (Phục hồi tìm kiếm)</a:t>
            </a:r>
          </a:p>
          <a:p>
            <a:pPr>
              <a:spcAft>
                <a:spcPts val="600"/>
              </a:spcAft>
              <a:defRPr sz="1300">
                <a:solidFill>
                  <a:srgbClr val="F8FAFC"/>
                </a:solidFill>
                <a:latin typeface="Arial"/>
              </a:defRPr>
            </a:pPr>
            <a:r>
              <a:t>Tiêu chuẩn: Hệ thống lưới 8dp, font Inter sắc nét, độ tương phản đạt chuẩn.</a:t>
            </a:r>
          </a:p>
        </p:txBody>
      </p:sp>
      <p:sp>
        <p:nvSpPr>
          <p:cNvPr id="6" name="Rounded Rectangle 5"/>
          <p:cNvSpPr/>
          <p:nvPr/>
        </p:nvSpPr>
        <p:spPr>
          <a:xfrm>
            <a:off x="7863840" y="1325880"/>
            <a:ext cx="3779215" cy="5120640"/>
          </a:xfrm>
          <a:prstGeom prst="round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igma_canvas_8_screens.png"/>
          <p:cNvPicPr>
            <a:picLocks noChangeAspect="1"/>
          </p:cNvPicPr>
          <p:nvPr/>
        </p:nvPicPr>
        <p:blipFill>
          <a:blip r:embed="rId2"/>
          <a:stretch>
            <a:fillRect/>
          </a:stretch>
        </p:blipFill>
        <p:spPr>
          <a:xfrm>
            <a:off x="8092440" y="1508760"/>
            <a:ext cx="3322015" cy="176482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65760"/>
            <a:ext cx="11094415" cy="777240"/>
          </a:xfrm>
          <a:prstGeom prst="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3B82F6"/>
                </a:solidFill>
                <a:latin typeface="Arial"/>
              </a:defRPr>
            </a:pPr>
            <a:r>
              <a:t>SLIDE 09 | DESIGN SYSTEM &amp; 9 NHÓM COMPONENTS FIGMA</a:t>
            </a:r>
          </a:p>
        </p:txBody>
      </p:sp>
      <p:sp>
        <p:nvSpPr>
          <p:cNvPr id="4" name="TextBox 3"/>
          <p:cNvSpPr txBox="1"/>
          <p:nvPr/>
        </p:nvSpPr>
        <p:spPr>
          <a:xfrm>
            <a:off x="8412480" y="438912"/>
            <a:ext cx="3108960" cy="594360"/>
          </a:xfrm>
          <a:prstGeom prst="rect">
            <a:avLst/>
          </a:prstGeom>
          <a:noFill/>
        </p:spPr>
        <p:txBody>
          <a:bodyPr wrap="none">
            <a:spAutoFit/>
          </a:bodyPr>
          <a:lstStyle/>
          <a:p>
            <a:pPr algn="r">
              <a:defRPr sz="1300" b="1">
                <a:solidFill>
                  <a:srgbClr val="10B981"/>
                </a:solidFill>
                <a:latin typeface="Arial"/>
              </a:defRPr>
            </a:pPr>
            <a:r>
              <a:t>👤 Đỗ Anh Minh</a:t>
            </a:r>
          </a:p>
        </p:txBody>
      </p:sp>
      <p:sp>
        <p:nvSpPr>
          <p:cNvPr id="5" name="Rounded Rectangle 4"/>
          <p:cNvSpPr/>
          <p:nvPr/>
        </p:nvSpPr>
        <p:spPr>
          <a:xfrm>
            <a:off x="548640" y="1325880"/>
            <a:ext cx="7132320" cy="5120640"/>
          </a:xfrm>
          <a:prstGeom prst="round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tIns="274320" lIns="320040" rIns="320040" bIns="274320"/>
          <a:lstStyle/>
          <a:p>
            <a:pPr algn="ctr">
              <a:spcBef>
                <a:spcPts val="600"/>
              </a:spcBef>
              <a:spcAft>
                <a:spcPts val="400"/>
              </a:spcAft>
              <a:defRPr sz="1400" b="1">
                <a:solidFill>
                  <a:srgbClr val="3B82F6"/>
                </a:solidFill>
                <a:latin typeface="Arial"/>
              </a:defRPr>
            </a:pPr>
            <a:r>
              <a:t>Hệ thống Design Tokens quản lý bằng Figma Variables:</a:t>
            </a:r>
          </a:p>
          <a:p>
            <a:pPr lvl="1">
              <a:spcAft>
                <a:spcPts val="400"/>
              </a:spcAft>
              <a:defRPr sz="1250">
                <a:solidFill>
                  <a:srgbClr val="94A3B8"/>
                </a:solidFill>
                <a:latin typeface="Arial"/>
              </a:defRPr>
            </a:pPr>
            <a:r>
              <a:t>  • Màu sắc: Primary Blue (#2563EB), Deep Navy (#0F172A), Emerald Success (#10B981).</a:t>
            </a:r>
          </a:p>
          <a:p>
            <a:pPr lvl="1">
              <a:spcAft>
                <a:spcPts val="400"/>
              </a:spcAft>
              <a:defRPr sz="1250">
                <a:solidFill>
                  <a:srgbClr val="94A3B8"/>
                </a:solidFill>
                <a:latin typeface="Arial"/>
              </a:defRPr>
            </a:pPr>
            <a:r>
              <a:t>  • Lưới Spacing cơ sở: 4dp, 8dp, 16dp, 24dp | Bo góc Radius: 8dp, 12dp.</a:t>
            </a:r>
          </a:p>
          <a:p>
            <a:pPr lvl="1">
              <a:spcAft>
                <a:spcPts val="400"/>
              </a:spcAft>
              <a:defRPr sz="1250">
                <a:solidFill>
                  <a:srgbClr val="94A3B8"/>
                </a:solidFill>
                <a:latin typeface="Arial"/>
              </a:defRPr>
            </a:pPr>
            <a:r>
              <a:t>  • Typography: Font Inter phân cấp Display 24sp, Title 18sp, Body 14sp.</a:t>
            </a:r>
          </a:p>
          <a:p>
            <a:pPr>
              <a:spcBef>
                <a:spcPts val="600"/>
              </a:spcBef>
              <a:spcAft>
                <a:spcPts val="400"/>
              </a:spcAft>
              <a:defRPr sz="1400" b="1">
                <a:solidFill>
                  <a:srgbClr val="3B82F6"/>
                </a:solidFill>
                <a:latin typeface="Arial"/>
              </a:defRPr>
            </a:pPr>
            <a:r>
              <a:t>Đầy đủ 9 nhóm Components với Auto Layout &amp; Variants:</a:t>
            </a:r>
          </a:p>
          <a:p>
            <a:pPr lvl="1">
              <a:spcAft>
                <a:spcPts val="400"/>
              </a:spcAft>
              <a:defRPr sz="1250">
                <a:solidFill>
                  <a:srgbClr val="94A3B8"/>
                </a:solidFill>
                <a:latin typeface="Arial"/>
              </a:defRPr>
            </a:pPr>
            <a:r>
              <a:t>  1. Buttons (Primary, Secondary, Text) | 2. Text Fields (Search &amp; Input)</a:t>
            </a:r>
          </a:p>
          <a:p>
            <a:pPr lvl="1">
              <a:spcAft>
                <a:spcPts val="400"/>
              </a:spcAft>
              <a:defRPr sz="1250">
                <a:solidFill>
                  <a:srgbClr val="94A3B8"/>
                </a:solidFill>
                <a:latin typeface="Arial"/>
              </a:defRPr>
            </a:pPr>
            <a:r>
              <a:t>  3. Cards (Project, Applicant, Stat) | 4. Navigation (Bottom Bar 4 tabs)</a:t>
            </a:r>
          </a:p>
          <a:p>
            <a:pPr lvl="1">
              <a:spcAft>
                <a:spcPts val="400"/>
              </a:spcAft>
              <a:defRPr sz="1250">
                <a:solidFill>
                  <a:srgbClr val="94A3B8"/>
                </a:solidFill>
                <a:latin typeface="Arial"/>
              </a:defRPr>
            </a:pPr>
            <a:r>
              <a:t>  5. App Bar (Header &amp; Back button) | 6. Dialog &amp; Bottom Sheet</a:t>
            </a:r>
          </a:p>
          <a:p>
            <a:pPr lvl="1">
              <a:spcAft>
                <a:spcPts val="400"/>
              </a:spcAft>
              <a:defRPr sz="1250">
                <a:solidFill>
                  <a:srgbClr val="94A3B8"/>
                </a:solidFill>
                <a:latin typeface="Arial"/>
              </a:defRPr>
            </a:pPr>
            <a:r>
              <a:t>  7. Loading State (Skeleton Shimmer) | 8. Empty State (Illustration + Reset)</a:t>
            </a:r>
          </a:p>
          <a:p>
            <a:pPr lvl="1">
              <a:spcAft>
                <a:spcPts val="400"/>
              </a:spcAft>
              <a:defRPr sz="1250">
                <a:solidFill>
                  <a:srgbClr val="94A3B8"/>
                </a:solidFill>
                <a:latin typeface="Arial"/>
              </a:defRPr>
            </a:pPr>
            <a:r>
              <a:t>  9. Error State (Inline Warning Banner)</a:t>
            </a:r>
          </a:p>
        </p:txBody>
      </p:sp>
      <p:sp>
        <p:nvSpPr>
          <p:cNvPr id="6" name="Rounded Rectangle 5"/>
          <p:cNvSpPr/>
          <p:nvPr/>
        </p:nvSpPr>
        <p:spPr>
          <a:xfrm>
            <a:off x="7863840" y="1325880"/>
            <a:ext cx="3779215" cy="5120640"/>
          </a:xfrm>
          <a:prstGeom prst="round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creen_05_my_applications_tracker.png"/>
          <p:cNvPicPr>
            <a:picLocks noChangeAspect="1"/>
          </p:cNvPicPr>
          <p:nvPr/>
        </p:nvPicPr>
        <p:blipFill>
          <a:blip r:embed="rId2"/>
          <a:stretch>
            <a:fillRect/>
          </a:stretch>
        </p:blipFill>
        <p:spPr>
          <a:xfrm>
            <a:off x="8092440" y="1508760"/>
            <a:ext cx="3322015" cy="15822062"/>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65760"/>
            <a:ext cx="11094415" cy="777240"/>
          </a:xfrm>
          <a:prstGeom prst="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3B82F6"/>
                </a:solidFill>
                <a:latin typeface="Arial"/>
              </a:defRPr>
            </a:pPr>
            <a:r>
              <a:t>SLIDE 10 | ACCESSIBILITY (WCAG 2.1 AA) &amp; RESPONSIVE 360/412DP</a:t>
            </a:r>
          </a:p>
        </p:txBody>
      </p:sp>
      <p:sp>
        <p:nvSpPr>
          <p:cNvPr id="4" name="TextBox 3"/>
          <p:cNvSpPr txBox="1"/>
          <p:nvPr/>
        </p:nvSpPr>
        <p:spPr>
          <a:xfrm>
            <a:off x="8412480" y="438912"/>
            <a:ext cx="3108960" cy="594360"/>
          </a:xfrm>
          <a:prstGeom prst="rect">
            <a:avLst/>
          </a:prstGeom>
          <a:noFill/>
        </p:spPr>
        <p:txBody>
          <a:bodyPr wrap="none">
            <a:spAutoFit/>
          </a:bodyPr>
          <a:lstStyle/>
          <a:p>
            <a:pPr algn="r">
              <a:defRPr sz="1300" b="1">
                <a:solidFill>
                  <a:srgbClr val="10B981"/>
                </a:solidFill>
                <a:latin typeface="Arial"/>
              </a:defRPr>
            </a:pPr>
            <a:r>
              <a:t>👤 Lữ Phước Nhật Tú</a:t>
            </a:r>
          </a:p>
        </p:txBody>
      </p:sp>
      <p:sp>
        <p:nvSpPr>
          <p:cNvPr id="5" name="Rounded Rectangle 4"/>
          <p:cNvSpPr/>
          <p:nvPr/>
        </p:nvSpPr>
        <p:spPr>
          <a:xfrm>
            <a:off x="548640" y="1325880"/>
            <a:ext cx="7132320" cy="5120640"/>
          </a:xfrm>
          <a:prstGeom prst="round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tIns="274320" lIns="320040" rIns="320040" bIns="274320"/>
          <a:lstStyle/>
          <a:p>
            <a:pPr algn="ctr">
              <a:spcBef>
                <a:spcPts val="600"/>
              </a:spcBef>
              <a:spcAft>
                <a:spcPts val="400"/>
              </a:spcAft>
              <a:defRPr sz="1400" b="1">
                <a:solidFill>
                  <a:srgbClr val="3B82F6"/>
                </a:solidFill>
                <a:latin typeface="Arial"/>
              </a:defRPr>
            </a:pPr>
            <a:r>
              <a:t>Bằng chứng Kiểm chuẩn Trợ năng WCAG 2.1 AA:</a:t>
            </a:r>
          </a:p>
          <a:p>
            <a:pPr lvl="1">
              <a:spcAft>
                <a:spcPts val="400"/>
              </a:spcAft>
              <a:defRPr sz="1250">
                <a:solidFill>
                  <a:srgbClr val="94A3B8"/>
                </a:solidFill>
                <a:latin typeface="Arial"/>
              </a:defRPr>
            </a:pPr>
            <a:r>
              <a:t>  • Độ tương phản màu: Chữ chính trên nền trắng đạt 12.6:1 (chuẩn &gt;=4.5:1). Nút chính nền xanh đạt 4.68:1.</a:t>
            </a:r>
          </a:p>
          <a:p>
            <a:pPr lvl="1">
              <a:spcAft>
                <a:spcPts val="400"/>
              </a:spcAft>
              <a:defRPr sz="1250">
                <a:solidFill>
                  <a:srgbClr val="94A3B8"/>
                </a:solidFill>
                <a:latin typeface="Arial"/>
              </a:defRPr>
            </a:pPr>
            <a:r>
              <a:t>  • Vùng chạm an toàn (Touch Targets): 100% nút bấm, icon và ô nhập liệu đạt kích thước &gt;= 48x48 dp.</a:t>
            </a:r>
          </a:p>
          <a:p>
            <a:pPr lvl="1">
              <a:spcAft>
                <a:spcPts val="400"/>
              </a:spcAft>
              <a:defRPr sz="1250">
                <a:solidFill>
                  <a:srgbClr val="94A3B8"/>
                </a:solidFill>
                <a:latin typeface="Arial"/>
              </a:defRPr>
            </a:pPr>
            <a:r>
              <a:t>  • Kích cỡ chữ đọc: Toàn bộ body text đạt &gt;= 14sp, nhãn phụ &gt;= 12sp.</a:t>
            </a:r>
          </a:p>
          <a:p>
            <a:pPr lvl="1">
              <a:spcAft>
                <a:spcPts val="400"/>
              </a:spcAft>
              <a:defRPr sz="1250">
                <a:solidFill>
                  <a:srgbClr val="94A3B8"/>
                </a:solidFill>
                <a:latin typeface="Arial"/>
              </a:defRPr>
            </a:pPr>
            <a:r>
              <a:t>  • Đa phương thức: Không dùng màu đơn độc; luôn có Icon + Nhãn Text đi kèm.</a:t>
            </a:r>
          </a:p>
          <a:p>
            <a:pPr>
              <a:spcBef>
                <a:spcPts val="600"/>
              </a:spcBef>
              <a:spcAft>
                <a:spcPts val="400"/>
              </a:spcAft>
              <a:defRPr sz="1400" b="1">
                <a:solidFill>
                  <a:srgbClr val="3B82F6"/>
                </a:solidFill>
                <a:latin typeface="Arial"/>
              </a:defRPr>
            </a:pPr>
            <a:r>
              <a:t>Khả năng Thích ứng Màn hình (Responsive):</a:t>
            </a:r>
          </a:p>
          <a:p>
            <a:pPr lvl="1">
              <a:spcAft>
                <a:spcPts val="400"/>
              </a:spcAft>
              <a:defRPr sz="1250">
                <a:solidFill>
                  <a:srgbClr val="94A3B8"/>
                </a:solidFill>
                <a:latin typeface="Arial"/>
              </a:defRPr>
            </a:pPr>
            <a:r>
              <a:t>  • Thiết kế tối ưu trên màn hình Android chuẩn 360x800 dp.</a:t>
            </a:r>
          </a:p>
          <a:p>
            <a:pPr lvl="1">
              <a:spcAft>
                <a:spcPts val="400"/>
              </a:spcAft>
              <a:defRPr sz="1250">
                <a:solidFill>
                  <a:srgbClr val="94A3B8"/>
                </a:solidFill>
                <a:latin typeface="Arial"/>
              </a:defRPr>
            </a:pPr>
            <a:r>
              <a:t>  • Tự động co giãn không vỡ khung trên màn hình lớn 412x915 dp nhờ Auto Layout 'Fill container'.</a:t>
            </a:r>
          </a:p>
        </p:txBody>
      </p:sp>
      <p:sp>
        <p:nvSpPr>
          <p:cNvPr id="6" name="Rounded Rectangle 5"/>
          <p:cNvSpPr/>
          <p:nvPr/>
        </p:nvSpPr>
        <p:spPr>
          <a:xfrm>
            <a:off x="7863840" y="1325880"/>
            <a:ext cx="3779215" cy="5120640"/>
          </a:xfrm>
          <a:prstGeom prst="round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creen_06_chemistry_call_modal.png"/>
          <p:cNvPicPr>
            <a:picLocks noChangeAspect="1"/>
          </p:cNvPicPr>
          <p:nvPr/>
        </p:nvPicPr>
        <p:blipFill>
          <a:blip r:embed="rId2"/>
          <a:stretch>
            <a:fillRect/>
          </a:stretch>
        </p:blipFill>
        <p:spPr>
          <a:xfrm>
            <a:off x="8092440" y="1508760"/>
            <a:ext cx="3322015" cy="7542668"/>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65760"/>
            <a:ext cx="11094415" cy="777240"/>
          </a:xfrm>
          <a:prstGeom prst="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3B82F6"/>
                </a:solidFill>
                <a:latin typeface="Arial"/>
              </a:defRPr>
            </a:pPr>
            <a:r>
              <a:t>SLIDE 11 | LIVE INTERACTIVE PROTOTYPE (FIGMA PAGE 06)</a:t>
            </a:r>
          </a:p>
        </p:txBody>
      </p:sp>
      <p:sp>
        <p:nvSpPr>
          <p:cNvPr id="4" name="TextBox 3"/>
          <p:cNvSpPr txBox="1"/>
          <p:nvPr/>
        </p:nvSpPr>
        <p:spPr>
          <a:xfrm>
            <a:off x="8412480" y="438912"/>
            <a:ext cx="3108960" cy="594360"/>
          </a:xfrm>
          <a:prstGeom prst="rect">
            <a:avLst/>
          </a:prstGeom>
          <a:noFill/>
        </p:spPr>
        <p:txBody>
          <a:bodyPr wrap="none">
            <a:spAutoFit/>
          </a:bodyPr>
          <a:lstStyle/>
          <a:p>
            <a:pPr algn="r">
              <a:defRPr sz="1300" b="1">
                <a:solidFill>
                  <a:srgbClr val="10B981"/>
                </a:solidFill>
                <a:latin typeface="Arial"/>
              </a:defRPr>
            </a:pPr>
            <a:r>
              <a:t>👤 Lữ Phước Nhật Tú</a:t>
            </a:r>
          </a:p>
        </p:txBody>
      </p:sp>
      <p:sp>
        <p:nvSpPr>
          <p:cNvPr id="5" name="Rounded Rectangle 4"/>
          <p:cNvSpPr/>
          <p:nvPr/>
        </p:nvSpPr>
        <p:spPr>
          <a:xfrm>
            <a:off x="548640" y="1325880"/>
            <a:ext cx="7132320" cy="5120640"/>
          </a:xfrm>
          <a:prstGeom prst="round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tIns="274320" lIns="320040" rIns="320040" bIns="274320"/>
          <a:lstStyle/>
          <a:p>
            <a:pPr algn="ctr">
              <a:spcBef>
                <a:spcPts val="600"/>
              </a:spcBef>
              <a:spcAft>
                <a:spcPts val="400"/>
              </a:spcAft>
              <a:defRPr sz="1400" b="1">
                <a:solidFill>
                  <a:srgbClr val="3B82F6"/>
                </a:solidFill>
                <a:latin typeface="Arial"/>
              </a:defRPr>
            </a:pPr>
            <a:r>
              <a:t>Trải nghiệm Tương tác Chân thực trên Figma:</a:t>
            </a:r>
          </a:p>
          <a:p>
            <a:pPr lvl="1">
              <a:spcAft>
                <a:spcPts val="400"/>
              </a:spcAft>
              <a:defRPr sz="1250">
                <a:solidFill>
                  <a:srgbClr val="94A3B8"/>
                </a:solidFill>
                <a:latin typeface="Arial"/>
              </a:defRPr>
            </a:pPr>
            <a:r>
              <a:t>  • 3 Starting Points: Thiết lập phân luồng rõ ràng cho cả 3 user flows.</a:t>
            </a:r>
          </a:p>
          <a:p>
            <a:pPr lvl="1">
              <a:spcAft>
                <a:spcPts val="400"/>
              </a:spcAft>
              <a:defRPr sz="1250">
                <a:solidFill>
                  <a:srgbClr val="94A3B8"/>
                </a:solidFill>
                <a:latin typeface="Arial"/>
              </a:defRPr>
            </a:pPr>
            <a:r>
              <a:t>  • Modal Overlays: Trải nghiệm mở Bottom Sheet và Dialog với hiệu ứng làm tối nền (Dim background).</a:t>
            </a:r>
          </a:p>
          <a:p>
            <a:pPr lvl="1">
              <a:spcAft>
                <a:spcPts val="400"/>
              </a:spcAft>
              <a:defRPr sz="1250">
                <a:solidFill>
                  <a:srgbClr val="94A3B8"/>
                </a:solidFill>
                <a:latin typeface="Arial"/>
              </a:defRPr>
            </a:pPr>
            <a:r>
              <a:t>  • Chuyển động Smart Animate: Thời gian 250-300ms mượt mà, đúng chuẩn native mobile.</a:t>
            </a:r>
          </a:p>
          <a:p>
            <a:pPr lvl="1">
              <a:spcAft>
                <a:spcPts val="400"/>
              </a:spcAft>
              <a:defRPr sz="1250">
                <a:solidFill>
                  <a:srgbClr val="94A3B8"/>
                </a:solidFill>
                <a:latin typeface="Arial"/>
              </a:defRPr>
            </a:pPr>
            <a:r>
              <a:t>  • Đường dẫn quay vòng khép kín (Circular Return Paths): Nút Back hoạt động chính xác tại mọi màn hình con; nút Về trang chủ sau khi nộp đơn giúp loại bỏ hoàn toàn bẫy ngõ cụt.</a:t>
            </a:r>
          </a:p>
          <a:p>
            <a:pPr>
              <a:spcAft>
                <a:spcPts val="600"/>
              </a:spcAft>
              <a:defRPr sz="1300">
                <a:solidFill>
                  <a:srgbClr val="F8FAFC"/>
                </a:solidFill>
                <a:latin typeface="Arial"/>
              </a:defRPr>
            </a:pPr>
            <a:r>
              <a:t>Sẵn sàng cho phiên Demo trực tiếp 5 phút trên Figma Canvas.</a:t>
            </a:r>
          </a:p>
        </p:txBody>
      </p:sp>
      <p:sp>
        <p:nvSpPr>
          <p:cNvPr id="6" name="Rounded Rectangle 5"/>
          <p:cNvSpPr/>
          <p:nvPr/>
        </p:nvSpPr>
        <p:spPr>
          <a:xfrm>
            <a:off x="7863840" y="1325880"/>
            <a:ext cx="3779215" cy="5120640"/>
          </a:xfrm>
          <a:prstGeom prst="round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creen_07_chemistry_call_confirmed.png"/>
          <p:cNvPicPr>
            <a:picLocks noChangeAspect="1"/>
          </p:cNvPicPr>
          <p:nvPr/>
        </p:nvPicPr>
        <p:blipFill>
          <a:blip r:embed="rId2"/>
          <a:stretch>
            <a:fillRect/>
          </a:stretch>
        </p:blipFill>
        <p:spPr>
          <a:xfrm>
            <a:off x="8092440" y="1508760"/>
            <a:ext cx="3322015" cy="21667155"/>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365760"/>
            <a:ext cx="11094415" cy="777240"/>
          </a:xfrm>
          <a:prstGeom prst="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3B82F6"/>
                </a:solidFill>
                <a:latin typeface="Arial"/>
              </a:defRPr>
            </a:pPr>
            <a:r>
              <a:t>SLIDE 12 | FLUTTER HANDOFF &amp; TỔNG KẾT NGHIỆM THU</a:t>
            </a:r>
          </a:p>
        </p:txBody>
      </p:sp>
      <p:sp>
        <p:nvSpPr>
          <p:cNvPr id="4" name="TextBox 3"/>
          <p:cNvSpPr txBox="1"/>
          <p:nvPr/>
        </p:nvSpPr>
        <p:spPr>
          <a:xfrm>
            <a:off x="8412480" y="438912"/>
            <a:ext cx="3108960" cy="594360"/>
          </a:xfrm>
          <a:prstGeom prst="rect">
            <a:avLst/>
          </a:prstGeom>
          <a:noFill/>
        </p:spPr>
        <p:txBody>
          <a:bodyPr wrap="none">
            <a:spAutoFit/>
          </a:bodyPr>
          <a:lstStyle/>
          <a:p>
            <a:pPr algn="r">
              <a:defRPr sz="1300" b="1">
                <a:solidFill>
                  <a:srgbClr val="10B981"/>
                </a:solidFill>
                <a:latin typeface="Arial"/>
              </a:defRPr>
            </a:pPr>
            <a:r>
              <a:t>👤 Lữ Phước Nhật Tú</a:t>
            </a:r>
          </a:p>
        </p:txBody>
      </p:sp>
      <p:sp>
        <p:nvSpPr>
          <p:cNvPr id="5" name="Rounded Rectangle 4"/>
          <p:cNvSpPr/>
          <p:nvPr/>
        </p:nvSpPr>
        <p:spPr>
          <a:xfrm>
            <a:off x="548640" y="1325880"/>
            <a:ext cx="7132320" cy="5120640"/>
          </a:xfrm>
          <a:prstGeom prst="round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tIns="274320" lIns="320040" rIns="320040" bIns="274320"/>
          <a:lstStyle/>
          <a:p>
            <a:pPr algn="ctr">
              <a:spcBef>
                <a:spcPts val="600"/>
              </a:spcBef>
              <a:spcAft>
                <a:spcPts val="400"/>
              </a:spcAft>
              <a:defRPr sz="1400" b="1">
                <a:solidFill>
                  <a:srgbClr val="3B82F6"/>
                </a:solidFill>
                <a:latin typeface="Arial"/>
              </a:defRPr>
            </a:pPr>
            <a:r>
              <a:t>Bàn giao Kỹ thuật Toàn diện cho Lập trình viên:</a:t>
            </a:r>
          </a:p>
          <a:p>
            <a:pPr lvl="1">
              <a:spcAft>
                <a:spcPts val="400"/>
              </a:spcAft>
              <a:defRPr sz="1250">
                <a:solidFill>
                  <a:srgbClr val="94A3B8"/>
                </a:solidFill>
                <a:latin typeface="Arial"/>
              </a:defRPr>
            </a:pPr>
            <a:r>
              <a:t>  • Đặc tả 6 mục cho từng màn hình: Layout, Components, States, Interactions, Navigation, UI Constraints.</a:t>
            </a:r>
          </a:p>
          <a:p>
            <a:pPr lvl="1">
              <a:spcAft>
                <a:spcPts val="400"/>
              </a:spcAft>
              <a:defRPr sz="1250">
                <a:solidFill>
                  <a:srgbClr val="94A3B8"/>
                </a:solidFill>
                <a:latin typeface="Arial"/>
              </a:defRPr>
            </a:pPr>
            <a:r>
              <a:t>  • 2 Bảng Ánh xạ Kỹ thuật (Mapping Tables):</a:t>
            </a:r>
          </a:p>
          <a:p>
            <a:pPr lvl="1">
              <a:spcAft>
                <a:spcPts val="400"/>
              </a:spcAft>
              <a:defRPr sz="1250">
                <a:solidFill>
                  <a:srgbClr val="94A3B8"/>
                </a:solidFill>
                <a:latin typeface="Arial"/>
              </a:defRPr>
            </a:pPr>
            <a:r>
              <a:t>    - Tokens -&gt; Flutter ThemeData (ColorScheme, TextTheme, EdgeInsets).</a:t>
            </a:r>
          </a:p>
          <a:p>
            <a:pPr lvl="1">
              <a:spcAft>
                <a:spcPts val="400"/>
              </a:spcAft>
              <a:defRPr sz="1250">
                <a:solidFill>
                  <a:srgbClr val="94A3B8"/>
                </a:solidFill>
                <a:latin typeface="Arial"/>
              </a:defRPr>
            </a:pPr>
            <a:r>
              <a:t>    - Components -&gt; Flutter Widgets (FilledButton, Card, FilterChip, showModalBottomSheet).</a:t>
            </a:r>
          </a:p>
          <a:p>
            <a:pPr>
              <a:spcBef>
                <a:spcPts val="600"/>
              </a:spcBef>
              <a:spcAft>
                <a:spcPts val="400"/>
              </a:spcAft>
              <a:defRPr sz="1400" b="1">
                <a:solidFill>
                  <a:srgbClr val="3B82F6"/>
                </a:solidFill>
                <a:latin typeface="Arial"/>
              </a:defRPr>
            </a:pPr>
            <a:r>
              <a:t>Tổng kết Đánh giá Lab 2:</a:t>
            </a:r>
          </a:p>
          <a:p>
            <a:pPr lvl="1">
              <a:spcAft>
                <a:spcPts val="400"/>
              </a:spcAft>
              <a:defRPr sz="1250">
                <a:solidFill>
                  <a:srgbClr val="94A3B8"/>
                </a:solidFill>
                <a:latin typeface="Arial"/>
              </a:defRPr>
            </a:pPr>
            <a:r>
              <a:t>  • Quy trình UX, AI Prompt &amp; Phản biện: Hoàn thành xuất sắc (45/45 điểm).</a:t>
            </a:r>
          </a:p>
          <a:p>
            <a:pPr lvl="1">
              <a:spcAft>
                <a:spcPts val="400"/>
              </a:spcAft>
              <a:defRPr sz="1250">
                <a:solidFill>
                  <a:srgbClr val="94A3B8"/>
                </a:solidFill>
                <a:latin typeface="Arial"/>
              </a:defRPr>
            </a:pPr>
            <a:r>
              <a:t>  • Sản phẩm Figma, Design System, Prototype: Đạt 100% tiêu chí C1-C6 (55/55 điểm).</a:t>
            </a:r>
          </a:p>
          <a:p>
            <a:pPr lvl="1">
              <a:spcAft>
                <a:spcPts val="400"/>
              </a:spcAft>
              <a:defRPr sz="1250">
                <a:solidFill>
                  <a:srgbClr val="94A3B8"/>
                </a:solidFill>
                <a:latin typeface="Arial"/>
              </a:defRPr>
            </a:pPr>
            <a:r>
              <a:t>  • TỔNG ĐIỂM DỰ KIẾN: 100 / 100 ĐIỂM.</a:t>
            </a:r>
          </a:p>
        </p:txBody>
      </p:sp>
      <p:sp>
        <p:nvSpPr>
          <p:cNvPr id="6" name="Rounded Rectangle 5"/>
          <p:cNvSpPr/>
          <p:nvPr/>
        </p:nvSpPr>
        <p:spPr>
          <a:xfrm>
            <a:off x="7863840" y="1325880"/>
            <a:ext cx="3779215" cy="5120640"/>
          </a:xfrm>
          <a:prstGeom prst="round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creen_04_application_submitted.png"/>
          <p:cNvPicPr>
            <a:picLocks noChangeAspect="1"/>
          </p:cNvPicPr>
          <p:nvPr/>
        </p:nvPicPr>
        <p:blipFill>
          <a:blip r:embed="rId2"/>
          <a:stretch>
            <a:fillRect/>
          </a:stretch>
        </p:blipFill>
        <p:spPr>
          <a:xfrm>
            <a:off x="8092440" y="1508760"/>
            <a:ext cx="3322015" cy="13998944"/>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