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Tăng Mình Trọng (Trưởng nhóm)]</a:t>
            </a:r>
          </a:p>
          <a:p/>
          <a:p>
            <a:r>
              <a:t>Kính chào thầy và các bạn, hôm nay Nhóm 4 xin đại diện trình bày đề tài EXE Team Matching. Ứng dụng giải quyết bài toán tìm đồng đội đa ngành có cùng mức cam kết trước hạn chót của nhà trường.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Tăng Mình Trọng]</a:t>
            </a:r>
          </a:p>
          <a:p/>
          <a:p>
            <a:r>
              <a:t>Dựa trên Persona Guideline, nhóm xây dựng Primary Persona Lê Quốc Huy với mục tiêu cốt lõi: tìm được nhóm tin cậy và gửi ứng tuyển thành công dưới 60 giây.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Tăng Mình Trọng]</a:t>
            </a:r>
          </a:p>
          <a:p/>
          <a:p>
            <a:r>
              <a:t>Kiến trúc thông tin dạng phẳng với Bottom Navigation 4 tab giúp sinh viên dễ dàng thao tác 1 tay, phân cấp rõ ràng 3 tầng từ trang chủ tới chi tiết.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Phan Anh Tuấn]</a:t>
            </a:r>
          </a:p>
          <a:p/>
          <a:p>
            <a:r>
              <a:t>Nhóm xây dựng 3 luồng người dùng rõ ràng, đặc biệt luồng 3 xử lý lỗi tìm kiếm rỗng với nút 'Xóa bộ lọc' đảm bảo không bao giờ dẫn người dùng vào ngõ cụt.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Phan Anh Tuấn]</a:t>
            </a:r>
          </a:p>
          <a:p/>
          <a:p>
            <a:r>
              <a:t>Prompt engineering 5 thành phần giúp AI sinh ra phôi giao diện sát với thực tế, làm nền tảng vững chắc cho quá trình phản biện UX.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Phan Anh Tuấn]</a:t>
            </a:r>
          </a:p>
          <a:p/>
          <a:p>
            <a:r>
              <a:t>Nhóm áp dụng 10 nguyên lý Heuristics của Nielsen để chỉ ra các điểm yếu của AI và thực hiện 3 vòng lặp tinh chỉnh toàn diện.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Đỗ Anh Minh]</a:t>
            </a:r>
          </a:p>
          <a:p/>
          <a:p>
            <a:r>
              <a:t>Chúng em chứng minh năng lực phản biện khi kiên quyết reject các đề xuất bất hợp lý của AI như pop-up che màn hình và báo trạng thái chỉ dùng màu.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Đỗ Anh Minh]</a:t>
            </a:r>
          </a:p>
          <a:p/>
          <a:p>
            <a:r>
              <a:t>Hệ thống bao gồm đủ 8 màn hình chức năng riêng biệt, bao phủ trọn vẹn toàn bộ hành trình trải nghiệm mà không có màn hình nào bị ngõ cụt.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Đỗ Anh Minh]</a:t>
            </a:r>
          </a:p>
          <a:p/>
          <a:p>
            <a:r>
              <a:t>Hệ thống Design System gồm 9 nhóm component được tạo bằng Auto Layout và Variants, liên kết trực tiếp với Figma Variables.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Lữ Phước Nhật Tú]</a:t>
            </a:r>
          </a:p>
          <a:p/>
          <a:p>
            <a:r>
              <a:t>Thiết kế đạt chuẩn WCAG 2.1 AA về độ tương phản và kích thước vùng chạm 48dp, đồng thời co giãn mượt mà từ 360dp sang 412dp.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Lữ Phước Nhật Tú]</a:t>
            </a:r>
          </a:p>
          <a:p/>
          <a:p>
            <a:r>
              <a:t>Bản Prototype đã sẵn sàng chạy live demo 5 phút, bao gồm đầy đủ 3 luồng, chuyển cảnh mượt mà và không có bất kỳ ngõ cụt nào.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Lữ Phước Nhật Tú]</a:t>
            </a:r>
          </a:p>
          <a:p/>
          <a:p>
            <a:r>
              <a:t>Tài liệu Flutter Handoff cung cấp 2 bảng ánh xạ chi tiết giúp lập trình viên dựng app chính xác từng pixel mà không cần hỏi lại.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1094415" cy="96012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74320" tIns="109728" rIns="274320" bIns="109728" wrap="square"/>
          <a:lstStyle/>
          <a:p>
            <a:pPr algn="ctr">
              <a:defRPr sz="1100" b="1">
                <a:solidFill>
                  <a:srgbClr val="38BDF8"/>
                </a:solidFill>
                <a:latin typeface="Arial"/>
              </a:defRPr>
            </a:pPr>
            <a:r>
              <a:t>01  ·  PROJECT OVERVIEW</a:t>
            </a:r>
          </a:p>
          <a:p>
            <a:pPr>
              <a:spcBef>
                <a:spcPts val="200"/>
              </a:spcBef>
              <a:defRPr sz="1700" b="1">
                <a:solidFill>
                  <a:srgbClr val="FFFFFF"/>
                </a:solidFill>
                <a:latin typeface="Arial"/>
              </a:defRPr>
            </a:pPr>
            <a:r>
              <a:t>EXE Team Matching · Hệ thống Ghép nhóm Khởi nghiệp</a:t>
            </a:r>
          </a:p>
        </p:txBody>
      </p:sp>
      <p:sp>
        <p:nvSpPr>
          <p:cNvPr id="4" name="TextBox 3"/>
          <p:cNvSpPr txBox="1"/>
          <p:nvPr/>
        </p:nvSpPr>
        <p:spPr>
          <a:xfrm>
            <a:off x="7772400" y="384048"/>
            <a:ext cx="3657600" cy="457200"/>
          </a:xfrm>
          <a:prstGeom prst="rect">
            <a:avLst/>
          </a:prstGeom>
          <a:noFill/>
        </p:spPr>
        <p:txBody>
          <a:bodyPr wrap="none">
            <a:spAutoFit/>
          </a:bodyPr>
          <a:lstStyle/>
          <a:p>
            <a:pPr algn="r">
              <a:defRPr sz="1200" b="1">
                <a:solidFill>
                  <a:srgbClr val="34D399"/>
                </a:solidFill>
                <a:latin typeface="Arial"/>
              </a:defRPr>
            </a:pPr>
            <a:r>
              <a:t>👤 Tăng Mình Trọng (Trưởng nhóm)</a:t>
            </a:r>
          </a:p>
        </p:txBody>
      </p:sp>
      <p:sp>
        <p:nvSpPr>
          <p:cNvPr id="5" name="Rounded Rectangle 4"/>
          <p:cNvSpPr/>
          <p:nvPr/>
        </p:nvSpPr>
        <p:spPr>
          <a:xfrm>
            <a:off x="548640" y="141732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8BDF8"/>
                </a:solidFill>
                <a:latin typeface="Arial"/>
              </a:defRPr>
            </a:pPr>
            <a:r>
              <a:t>🎯 Vấn đề &amp; Thực trạng</a:t>
            </a:r>
          </a:p>
          <a:p>
            <a:pPr>
              <a:spcAft>
                <a:spcPts val="200"/>
              </a:spcAft>
              <a:defRPr sz="1100">
                <a:solidFill>
                  <a:srgbClr val="E2E8F0"/>
                </a:solidFill>
                <a:latin typeface="Arial"/>
              </a:defRPr>
            </a:pPr>
            <a:r>
              <a:t>• Sinh viên học môn EXE101/201 bắt buộc phải lập nhóm liên ngành (IT + Kinh tế/Marketing).</a:t>
            </a:r>
          </a:p>
          <a:p>
            <a:pPr>
              <a:spcAft>
                <a:spcPts val="200"/>
              </a:spcAft>
              <a:defRPr sz="1100">
                <a:solidFill>
                  <a:srgbClr val="E2E8F0"/>
                </a:solidFill>
                <a:latin typeface="Arial"/>
              </a:defRPr>
            </a:pPr>
            <a:r>
              <a:t>• Tìm nhóm qua mạng xã hội rất hỗn loạn: bài trôi nhanh, kỹ năng mập mờ, dễ gặp free-rider.</a:t>
            </a:r>
          </a:p>
        </p:txBody>
      </p:sp>
      <p:sp>
        <p:nvSpPr>
          <p:cNvPr id="6" name="Rounded Rectangle 5"/>
          <p:cNvSpPr/>
          <p:nvPr/>
        </p:nvSpPr>
        <p:spPr>
          <a:xfrm>
            <a:off x="548640" y="313944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4D399"/>
                </a:solidFill>
                <a:latin typeface="Arial"/>
              </a:defRPr>
            </a:pPr>
            <a:r>
              <a:t>💡 Giải pháp Nền tảng</a:t>
            </a:r>
          </a:p>
          <a:p>
            <a:pPr>
              <a:spcAft>
                <a:spcPts val="200"/>
              </a:spcAft>
              <a:defRPr sz="1100">
                <a:solidFill>
                  <a:srgbClr val="E2E8F0"/>
                </a:solidFill>
                <a:latin typeface="Arial"/>
              </a:defRPr>
            </a:pPr>
            <a:r>
              <a:t>• Ghép nhóm dựa trên Ma trận Kỹ năng (Skill Matrix) &amp; giờ cam kết hàng tuần.</a:t>
            </a:r>
          </a:p>
          <a:p>
            <a:pPr>
              <a:spcAft>
                <a:spcPts val="200"/>
              </a:spcAft>
              <a:defRPr sz="1100">
                <a:solidFill>
                  <a:srgbClr val="E2E8F0"/>
                </a:solidFill>
                <a:latin typeface="Arial"/>
              </a:defRPr>
            </a:pPr>
            <a:r>
              <a:t>• Tối ưu hóa hành trình: Tìm và nộp đơn thành công chỉ trong vòng dưới 60 giây.</a:t>
            </a:r>
          </a:p>
        </p:txBody>
      </p:sp>
      <p:sp>
        <p:nvSpPr>
          <p:cNvPr id="7" name="Rounded Rectangle 6"/>
          <p:cNvSpPr/>
          <p:nvPr/>
        </p:nvSpPr>
        <p:spPr>
          <a:xfrm>
            <a:off x="548640" y="486156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8BDF8"/>
                </a:solidFill>
                <a:latin typeface="Arial"/>
              </a:defRPr>
            </a:pPr>
            <a:r>
              <a:t>👥 Đội ngũ Nhóm 4</a:t>
            </a:r>
          </a:p>
          <a:p>
            <a:pPr>
              <a:spcAft>
                <a:spcPts val="200"/>
              </a:spcAft>
              <a:defRPr sz="1100">
                <a:solidFill>
                  <a:srgbClr val="E2E8F0"/>
                </a:solidFill>
                <a:latin typeface="Arial"/>
              </a:defRPr>
            </a:pPr>
            <a:r>
              <a:t>• 1. Tăng Mình Trọng: Trưởng nhóm · UX Research, Persona, Quản phối</a:t>
            </a:r>
          </a:p>
          <a:p>
            <a:pPr>
              <a:spcAft>
                <a:spcPts val="200"/>
              </a:spcAft>
              <a:defRPr sz="1100">
                <a:solidFill>
                  <a:srgbClr val="E2E8F0"/>
                </a:solidFill>
                <a:latin typeface="Arial"/>
              </a:defRPr>
            </a:pPr>
            <a:r>
              <a:t>• 2. Phan Anh Tuấn: User Flows, AI Prompting &amp; Usability Heuristics</a:t>
            </a:r>
          </a:p>
          <a:p>
            <a:pPr>
              <a:spcAft>
                <a:spcPts val="200"/>
              </a:spcAft>
              <a:defRPr sz="1100">
                <a:solidFill>
                  <a:srgbClr val="E2E8F0"/>
                </a:solidFill>
                <a:latin typeface="Arial"/>
              </a:defRPr>
            </a:pPr>
            <a:r>
              <a:t>• 3. Đỗ Anh Minh: Design System, Figma Components &amp; UI Audit</a:t>
            </a:r>
          </a:p>
          <a:p>
            <a:pPr>
              <a:spcAft>
                <a:spcPts val="200"/>
              </a:spcAft>
              <a:defRPr sz="1100">
                <a:solidFill>
                  <a:srgbClr val="E2E8F0"/>
                </a:solidFill>
                <a:latin typeface="Arial"/>
              </a:defRPr>
            </a:pPr>
            <a:r>
              <a:t>• 4. Lữ Phước Nhật Tú: Interactive Prototype &amp; Flutter Handoff</a:t>
            </a:r>
          </a:p>
        </p:txBody>
      </p:sp>
      <p:sp>
        <p:nvSpPr>
          <p:cNvPr id="8" name="Rounded Rectangle 7"/>
          <p:cNvSpPr/>
          <p:nvPr/>
        </p:nvSpPr>
        <p:spPr>
          <a:xfrm>
            <a:off x="8778240" y="1417320"/>
            <a:ext cx="2864815" cy="502920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_01_discovery_feed.png"/>
          <p:cNvPicPr>
            <a:picLocks noChangeAspect="1"/>
          </p:cNvPicPr>
          <p:nvPr/>
        </p:nvPicPr>
        <p:blipFill>
          <a:blip r:embed="rId2"/>
          <a:stretch>
            <a:fillRect/>
          </a:stretch>
        </p:blipFill>
        <p:spPr>
          <a:xfrm>
            <a:off x="9681295" y="1554480"/>
            <a:ext cx="1058703" cy="47548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1094415" cy="96012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74320" tIns="109728" rIns="274320" bIns="109728" wrap="square"/>
          <a:lstStyle/>
          <a:p>
            <a:pPr algn="ctr">
              <a:defRPr sz="1100" b="1">
                <a:solidFill>
                  <a:srgbClr val="38BDF8"/>
                </a:solidFill>
                <a:latin typeface="Arial"/>
              </a:defRPr>
            </a:pPr>
            <a:r>
              <a:t>02  ·  PROBLEM &amp; PERSONA</a:t>
            </a:r>
          </a:p>
          <a:p>
            <a:pPr>
              <a:spcBef>
                <a:spcPts val="200"/>
              </a:spcBef>
              <a:defRPr sz="1700" b="1">
                <a:solidFill>
                  <a:srgbClr val="FFFFFF"/>
                </a:solidFill>
                <a:latin typeface="Arial"/>
              </a:defRPr>
            </a:pPr>
            <a:r>
              <a:t>Primary Persona · Lê Quốc Huy (Tech-Savvy Active Seeker)</a:t>
            </a:r>
          </a:p>
        </p:txBody>
      </p:sp>
      <p:sp>
        <p:nvSpPr>
          <p:cNvPr id="4" name="TextBox 3"/>
          <p:cNvSpPr txBox="1"/>
          <p:nvPr/>
        </p:nvSpPr>
        <p:spPr>
          <a:xfrm>
            <a:off x="7772400" y="384048"/>
            <a:ext cx="3657600" cy="457200"/>
          </a:xfrm>
          <a:prstGeom prst="rect">
            <a:avLst/>
          </a:prstGeom>
          <a:noFill/>
        </p:spPr>
        <p:txBody>
          <a:bodyPr wrap="none">
            <a:spAutoFit/>
          </a:bodyPr>
          <a:lstStyle/>
          <a:p>
            <a:pPr algn="r">
              <a:defRPr sz="1200" b="1">
                <a:solidFill>
                  <a:srgbClr val="34D399"/>
                </a:solidFill>
                <a:latin typeface="Arial"/>
              </a:defRPr>
            </a:pPr>
            <a:r>
              <a:t>👤 Tăng Mình Trọng</a:t>
            </a:r>
          </a:p>
        </p:txBody>
      </p:sp>
      <p:sp>
        <p:nvSpPr>
          <p:cNvPr id="5" name="Rounded Rectangle 4"/>
          <p:cNvSpPr/>
          <p:nvPr/>
        </p:nvSpPr>
        <p:spPr>
          <a:xfrm>
            <a:off x="548640" y="141732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8BDF8"/>
                </a:solidFill>
                <a:latin typeface="Arial"/>
              </a:defRPr>
            </a:pPr>
            <a:r>
              <a:t>👤 Chân dung 12 trường cốt lõi</a:t>
            </a:r>
          </a:p>
          <a:p>
            <a:pPr>
              <a:spcAft>
                <a:spcPts val="200"/>
              </a:spcAft>
              <a:defRPr sz="1100">
                <a:solidFill>
                  <a:srgbClr val="E2E8F0"/>
                </a:solidFill>
                <a:latin typeface="Arial"/>
              </a:defRPr>
            </a:pPr>
            <a:r>
              <a:t>• Lê Quốc Huy · 21 tuổi · SV năm 3 Kỹ thuật Phần mềm (SE).</a:t>
            </a:r>
          </a:p>
          <a:p>
            <a:pPr>
              <a:spcAft>
                <a:spcPts val="200"/>
              </a:spcAft>
              <a:defRPr sz="1100">
                <a:solidFill>
                  <a:srgbClr val="E2E8F0"/>
                </a:solidFill>
                <a:latin typeface="Arial"/>
              </a:defRPr>
            </a:pPr>
            <a:r>
              <a:t>• Vai trò: Technical Lead / Mobile App Developer.</a:t>
            </a:r>
          </a:p>
          <a:p>
            <a:pPr>
              <a:spcAft>
                <a:spcPts val="200"/>
              </a:spcAft>
              <a:defRPr sz="1100">
                <a:solidFill>
                  <a:srgbClr val="E2E8F0"/>
                </a:solidFill>
                <a:latin typeface="Arial"/>
              </a:defRPr>
            </a:pPr>
            <a:r>
              <a:t>• Bối cảnh: Dùng Android 360x800 dp, dùng 1 tay trên xe buýt / thư viện.</a:t>
            </a:r>
          </a:p>
          <a:p>
            <a:pPr>
              <a:spcAft>
                <a:spcPts val="200"/>
              </a:spcAft>
              <a:defRPr sz="1100">
                <a:solidFill>
                  <a:srgbClr val="E2E8F0"/>
                </a:solidFill>
                <a:latin typeface="Arial"/>
              </a:defRPr>
            </a:pPr>
            <a:r>
              <a:t>• Hạn chót: Nộp danh sách nhóm lên nhà trường chỉ còn đúng 5 ngày.</a:t>
            </a:r>
          </a:p>
        </p:txBody>
      </p:sp>
      <p:sp>
        <p:nvSpPr>
          <p:cNvPr id="6" name="Rounded Rectangle 5"/>
          <p:cNvSpPr/>
          <p:nvPr/>
        </p:nvSpPr>
        <p:spPr>
          <a:xfrm>
            <a:off x="548640" y="313944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FB7185"/>
                </a:solidFill>
                <a:latin typeface="Arial"/>
              </a:defRPr>
            </a:pPr>
            <a:r>
              <a:t>📢 Problem Statement</a:t>
            </a:r>
          </a:p>
          <a:p>
            <a:pPr>
              <a:spcAft>
                <a:spcPts val="200"/>
              </a:spcAft>
              <a:defRPr sz="1100">
                <a:solidFill>
                  <a:srgbClr val="E2E8F0"/>
                </a:solidFill>
                <a:latin typeface="Arial"/>
              </a:defRPr>
            </a:pPr>
            <a:r>
              <a:t>• "Sinh viên kỹ thuật phần mềm gặp khó khăn lớn khi tìm đồng đội khối ngành Kinh tế/Marketing phù hợp về kỹ năng và cam kết trước deadline nộp danh sách."</a:t>
            </a:r>
          </a:p>
        </p:txBody>
      </p:sp>
      <p:sp>
        <p:nvSpPr>
          <p:cNvPr id="7" name="Rounded Rectangle 6"/>
          <p:cNvSpPr/>
          <p:nvPr/>
        </p:nvSpPr>
        <p:spPr>
          <a:xfrm>
            <a:off x="548640" y="486156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4D399"/>
                </a:solidFill>
                <a:latin typeface="Arial"/>
              </a:defRPr>
            </a:pPr>
            <a:r>
              <a:t>⏱️ Measurable Success Metric</a:t>
            </a:r>
          </a:p>
          <a:p>
            <a:pPr>
              <a:spcAft>
                <a:spcPts val="200"/>
              </a:spcAft>
              <a:defRPr sz="1100">
                <a:solidFill>
                  <a:srgbClr val="E2E8F0"/>
                </a:solidFill>
                <a:latin typeface="Arial"/>
              </a:defRPr>
            </a:pPr>
            <a:r>
              <a:t>• "Sinh viên tìm được nhóm EXE phù hợp theo bộ lọc chuyên môn và gửi thành công đơn ứng tuyển trong thời gian dưới 60 giây."</a:t>
            </a:r>
          </a:p>
        </p:txBody>
      </p:sp>
      <p:sp>
        <p:nvSpPr>
          <p:cNvPr id="8" name="Rounded Rectangle 7"/>
          <p:cNvSpPr/>
          <p:nvPr/>
        </p:nvSpPr>
        <p:spPr>
          <a:xfrm>
            <a:off x="8778240" y="1417320"/>
            <a:ext cx="2864815" cy="502920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_02_project_detail.png"/>
          <p:cNvPicPr>
            <a:picLocks noChangeAspect="1"/>
          </p:cNvPicPr>
          <p:nvPr/>
        </p:nvPicPr>
        <p:blipFill>
          <a:blip r:embed="rId2"/>
          <a:stretch>
            <a:fillRect/>
          </a:stretch>
        </p:blipFill>
        <p:spPr>
          <a:xfrm>
            <a:off x="9630217" y="1554480"/>
            <a:ext cx="1160859" cy="47548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1094415" cy="96012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74320" tIns="109728" rIns="274320" bIns="109728" wrap="square"/>
          <a:lstStyle/>
          <a:p>
            <a:pPr algn="ctr">
              <a:defRPr sz="1100" b="1">
                <a:solidFill>
                  <a:srgbClr val="38BDF8"/>
                </a:solidFill>
                <a:latin typeface="Arial"/>
              </a:defRPr>
            </a:pPr>
            <a:r>
              <a:t>03  ·  INFORMATION ARCHITECTURE</a:t>
            </a:r>
          </a:p>
          <a:p>
            <a:pPr>
              <a:spcBef>
                <a:spcPts val="200"/>
              </a:spcBef>
              <a:defRPr sz="1700" b="1">
                <a:solidFill>
                  <a:srgbClr val="FFFFFF"/>
                </a:solidFill>
                <a:latin typeface="Arial"/>
              </a:defRPr>
            </a:pPr>
            <a:r>
              <a:t>Kiến trúc Thông tin &amp; Sitemap 9 Màn hình</a:t>
            </a:r>
          </a:p>
        </p:txBody>
      </p:sp>
      <p:sp>
        <p:nvSpPr>
          <p:cNvPr id="4" name="TextBox 3"/>
          <p:cNvSpPr txBox="1"/>
          <p:nvPr/>
        </p:nvSpPr>
        <p:spPr>
          <a:xfrm>
            <a:off x="7772400" y="384048"/>
            <a:ext cx="3657600" cy="457200"/>
          </a:xfrm>
          <a:prstGeom prst="rect">
            <a:avLst/>
          </a:prstGeom>
          <a:noFill/>
        </p:spPr>
        <p:txBody>
          <a:bodyPr wrap="none">
            <a:spAutoFit/>
          </a:bodyPr>
          <a:lstStyle/>
          <a:p>
            <a:pPr algn="r">
              <a:defRPr sz="1200" b="1">
                <a:solidFill>
                  <a:srgbClr val="34D399"/>
                </a:solidFill>
                <a:latin typeface="Arial"/>
              </a:defRPr>
            </a:pPr>
            <a:r>
              <a:t>👤 Tăng Mình Trọng</a:t>
            </a:r>
          </a:p>
        </p:txBody>
      </p:sp>
      <p:sp>
        <p:nvSpPr>
          <p:cNvPr id="5" name="Rounded Rectangle 4"/>
          <p:cNvSpPr/>
          <p:nvPr/>
        </p:nvSpPr>
        <p:spPr>
          <a:xfrm>
            <a:off x="548640" y="1417320"/>
            <a:ext cx="4389120" cy="2432304"/>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64592" rIns="228600" wrap="square"/>
          <a:lstStyle/>
          <a:p>
            <a:pPr algn="ctr">
              <a:spcAft>
                <a:spcPts val="400"/>
              </a:spcAft>
              <a:defRPr sz="1300" b="1">
                <a:solidFill>
                  <a:srgbClr val="38BDF8"/>
                </a:solidFill>
                <a:latin typeface="Arial"/>
              </a:defRPr>
            </a:pPr>
            <a:r>
              <a:t>🗺️ Điều hướng Phẳng (Bottom Bar 4 Tabs)</a:t>
            </a:r>
          </a:p>
          <a:p>
            <a:pPr>
              <a:spcAft>
                <a:spcPts val="300"/>
              </a:spcAft>
              <a:defRPr sz="1100">
                <a:solidFill>
                  <a:srgbClr val="E2E8F0"/>
                </a:solidFill>
                <a:latin typeface="Arial"/>
              </a:defRPr>
            </a:pPr>
            <a:r>
              <a:t>• Khám phá · Đơn của tôi · Tin nhắn · Cá nhân.</a:t>
            </a:r>
          </a:p>
          <a:p>
            <a:pPr>
              <a:spcAft>
                <a:spcPts val="300"/>
              </a:spcAft>
              <a:defRPr sz="1100">
                <a:solidFill>
                  <a:srgbClr val="E2E8F0"/>
                </a:solidFill>
                <a:latin typeface="Arial"/>
              </a:defRPr>
            </a:pPr>
            <a:r>
              <a:t>• Thiết kế công thái học nằm gọn trong vùng ngón tay cái (Thumb Zone).</a:t>
            </a:r>
          </a:p>
          <a:p>
            <a:pPr>
              <a:spcAft>
                <a:spcPts val="300"/>
              </a:spcAft>
              <a:defRPr sz="1100">
                <a:solidFill>
                  <a:srgbClr val="E2E8F0"/>
                </a:solidFill>
                <a:latin typeface="Arial"/>
              </a:defRPr>
            </a:pPr>
            <a:r>
              <a:t>• Quy tắc 3 lần chạm (Rule of 3 taps) hoàn thành mọi tác vụ chính.</a:t>
            </a:r>
          </a:p>
        </p:txBody>
      </p:sp>
      <p:sp>
        <p:nvSpPr>
          <p:cNvPr id="6" name="Rounded Rectangle 5"/>
          <p:cNvSpPr/>
          <p:nvPr/>
        </p:nvSpPr>
        <p:spPr>
          <a:xfrm>
            <a:off x="548640" y="4014216"/>
            <a:ext cx="4389120" cy="2432304"/>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64592" rIns="228600" wrap="square"/>
          <a:lstStyle/>
          <a:p>
            <a:pPr algn="ctr">
              <a:spcAft>
                <a:spcPts val="400"/>
              </a:spcAft>
              <a:defRPr sz="1300" b="1">
                <a:solidFill>
                  <a:srgbClr val="34D399"/>
                </a:solidFill>
                <a:latin typeface="Arial"/>
              </a:defRPr>
            </a:pPr>
            <a:r>
              <a:t>📱 Phân cấp 3 Tầng Màn hình</a:t>
            </a:r>
          </a:p>
          <a:p>
            <a:pPr>
              <a:spcAft>
                <a:spcPts val="300"/>
              </a:spcAft>
              <a:defRPr sz="1100">
                <a:solidFill>
                  <a:srgbClr val="E2E8F0"/>
                </a:solidFill>
                <a:latin typeface="Arial"/>
              </a:defRPr>
            </a:pPr>
            <a:r>
              <a:t>• Cấp 1: Screen 01 (Khám phá), Screen 05 (Theo dõi đơn), Screen 08 (Empty State).</a:t>
            </a:r>
          </a:p>
          <a:p>
            <a:pPr>
              <a:spcAft>
                <a:spcPts val="300"/>
              </a:spcAft>
              <a:defRPr sz="1100">
                <a:solidFill>
                  <a:srgbClr val="E2E8F0"/>
                </a:solidFill>
                <a:latin typeface="Arial"/>
              </a:defRPr>
            </a:pPr>
            <a:r>
              <a:t>• Cấp 2: Screen 02 (Chi tiết), Screen 03 (Apply Sheet), Screen 04 (Xác nhận gửi).</a:t>
            </a:r>
          </a:p>
          <a:p>
            <a:pPr>
              <a:spcAft>
                <a:spcPts val="300"/>
              </a:spcAft>
              <a:defRPr sz="1100">
                <a:solidFill>
                  <a:srgbClr val="E2E8F0"/>
                </a:solidFill>
                <a:latin typeface="Arial"/>
              </a:defRPr>
            </a:pPr>
            <a:r>
              <a:t>• Cấp 3: Screen 06 (Lên lịch phỏng vấn), Screen 07 (Lịch hẹn hoàn tất).</a:t>
            </a:r>
          </a:p>
        </p:txBody>
      </p:sp>
      <p:sp>
        <p:nvSpPr>
          <p:cNvPr id="7" name="Rounded Rectangle 6"/>
          <p:cNvSpPr/>
          <p:nvPr/>
        </p:nvSpPr>
        <p:spPr>
          <a:xfrm>
            <a:off x="5120640" y="1417320"/>
            <a:ext cx="6522415" cy="502920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titch_canvas_screen_01_02_03.png"/>
          <p:cNvPicPr>
            <a:picLocks noChangeAspect="1"/>
          </p:cNvPicPr>
          <p:nvPr/>
        </p:nvPicPr>
        <p:blipFill>
          <a:blip r:embed="rId2"/>
          <a:stretch>
            <a:fillRect/>
          </a:stretch>
        </p:blipFill>
        <p:spPr>
          <a:xfrm>
            <a:off x="5318607" y="2304573"/>
            <a:ext cx="6126480" cy="325469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1094415" cy="96012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74320" tIns="109728" rIns="274320" bIns="109728" wrap="square"/>
          <a:lstStyle/>
          <a:p>
            <a:pPr algn="ctr">
              <a:defRPr sz="1100" b="1">
                <a:solidFill>
                  <a:srgbClr val="38BDF8"/>
                </a:solidFill>
                <a:latin typeface="Arial"/>
              </a:defRPr>
            </a:pPr>
            <a:r>
              <a:t>04  ·  USER FLOWS</a:t>
            </a:r>
          </a:p>
          <a:p>
            <a:pPr>
              <a:spcBef>
                <a:spcPts val="200"/>
              </a:spcBef>
              <a:defRPr sz="1700" b="1">
                <a:solidFill>
                  <a:srgbClr val="FFFFFF"/>
                </a:solidFill>
                <a:latin typeface="Arial"/>
              </a:defRPr>
            </a:pPr>
            <a:r>
              <a:t>3 Luồng Trải nghiệm Cốt lõi &amp; Kịch bản Xử lý Lỗi</a:t>
            </a:r>
          </a:p>
        </p:txBody>
      </p:sp>
      <p:sp>
        <p:nvSpPr>
          <p:cNvPr id="4" name="TextBox 3"/>
          <p:cNvSpPr txBox="1"/>
          <p:nvPr/>
        </p:nvSpPr>
        <p:spPr>
          <a:xfrm>
            <a:off x="7772400" y="384048"/>
            <a:ext cx="3657600" cy="457200"/>
          </a:xfrm>
          <a:prstGeom prst="rect">
            <a:avLst/>
          </a:prstGeom>
          <a:noFill/>
        </p:spPr>
        <p:txBody>
          <a:bodyPr wrap="none">
            <a:spAutoFit/>
          </a:bodyPr>
          <a:lstStyle/>
          <a:p>
            <a:pPr algn="r">
              <a:defRPr sz="1200" b="1">
                <a:solidFill>
                  <a:srgbClr val="34D399"/>
                </a:solidFill>
                <a:latin typeface="Arial"/>
              </a:defRPr>
            </a:pPr>
            <a:r>
              <a:t>👤 Phan Anh Tuấn</a:t>
            </a:r>
          </a:p>
        </p:txBody>
      </p:sp>
      <p:sp>
        <p:nvSpPr>
          <p:cNvPr id="5" name="Rounded Rectangle 4"/>
          <p:cNvSpPr/>
          <p:nvPr/>
        </p:nvSpPr>
        <p:spPr>
          <a:xfrm>
            <a:off x="548640" y="141732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8BDF8"/>
                </a:solidFill>
                <a:latin typeface="Arial"/>
              </a:defRPr>
            </a:pPr>
            <a:r>
              <a:t>⚡ Flow 1: Happy Path (Ứng tuyển trong 60s)</a:t>
            </a:r>
          </a:p>
          <a:p>
            <a:pPr>
              <a:spcAft>
                <a:spcPts val="200"/>
              </a:spcAft>
              <a:defRPr sz="1100">
                <a:solidFill>
                  <a:srgbClr val="E2E8F0"/>
                </a:solidFill>
                <a:latin typeface="Arial"/>
              </a:defRPr>
            </a:pPr>
            <a:r>
              <a:t>• Khám phá (Screen 01) -&gt; Xem chi tiết (Screen 02) -&gt; Mở Apply Sheet (Screen 03) -&gt; Gửi đơn thành công (Screen 04) -&gt; Quản lý tại Tracker (Screen 05).</a:t>
            </a:r>
          </a:p>
        </p:txBody>
      </p:sp>
      <p:sp>
        <p:nvSpPr>
          <p:cNvPr id="6" name="Rounded Rectangle 5"/>
          <p:cNvSpPr/>
          <p:nvPr/>
        </p:nvSpPr>
        <p:spPr>
          <a:xfrm>
            <a:off x="548640" y="313944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4D399"/>
                </a:solidFill>
                <a:latin typeface="Arial"/>
              </a:defRPr>
            </a:pPr>
            <a:r>
              <a:t>🤝 Flow 2: Alternate Path (Hẹn Chemistry Call)</a:t>
            </a:r>
          </a:p>
          <a:p>
            <a:pPr>
              <a:spcAft>
                <a:spcPts val="200"/>
              </a:spcAft>
              <a:defRPr sz="1100">
                <a:solidFill>
                  <a:srgbClr val="E2E8F0"/>
                </a:solidFill>
                <a:latin typeface="Arial"/>
              </a:defRPr>
            </a:pPr>
            <a:r>
              <a:t>• Trưởng nhóm mở Tracker (Screen 05) -&gt; Xem hồ sơ ứng viên -&gt; Nhấn Hẹn trao đổi -&gt; Chọn khung giờ (Screen 06) -&gt; Xác nhận lịch hẹn (Screen 07).</a:t>
            </a:r>
          </a:p>
        </p:txBody>
      </p:sp>
      <p:sp>
        <p:nvSpPr>
          <p:cNvPr id="7" name="Rounded Rectangle 6"/>
          <p:cNvSpPr/>
          <p:nvPr/>
        </p:nvSpPr>
        <p:spPr>
          <a:xfrm>
            <a:off x="548640" y="486156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FB7185"/>
                </a:solidFill>
                <a:latin typeface="Arial"/>
              </a:defRPr>
            </a:pPr>
            <a:r>
              <a:t>🛡️ Flow 3: Error &amp; Recovery (Không có ngõ cụt)</a:t>
            </a:r>
          </a:p>
          <a:p>
            <a:pPr>
              <a:spcAft>
                <a:spcPts val="200"/>
              </a:spcAft>
              <a:defRPr sz="1100">
                <a:solidFill>
                  <a:srgbClr val="E2E8F0"/>
                </a:solidFill>
                <a:latin typeface="Arial"/>
              </a:defRPr>
            </a:pPr>
            <a:r>
              <a:t>• Tìm từ khóa sai hoặc bộ lọc quá hẹp -&gt; Màn hình Screen 08 (Empty State) -&gt; Nhấn nút 'Xóa bộ lọc' -&gt; Khôi phục danh sách đầy đủ trong 1 chạm (Zero Dead-Ends).</a:t>
            </a:r>
          </a:p>
        </p:txBody>
      </p:sp>
      <p:sp>
        <p:nvSpPr>
          <p:cNvPr id="8" name="Rounded Rectangle 7"/>
          <p:cNvSpPr/>
          <p:nvPr/>
        </p:nvSpPr>
        <p:spPr>
          <a:xfrm>
            <a:off x="8778240" y="1417320"/>
            <a:ext cx="2864815" cy="502920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_08_empty_state.png"/>
          <p:cNvPicPr>
            <a:picLocks noChangeAspect="1"/>
          </p:cNvPicPr>
          <p:nvPr/>
        </p:nvPicPr>
        <p:blipFill>
          <a:blip r:embed="rId2"/>
          <a:stretch>
            <a:fillRect/>
          </a:stretch>
        </p:blipFill>
        <p:spPr>
          <a:xfrm>
            <a:off x="9648791" y="1554480"/>
            <a:ext cx="1123711" cy="47548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1094415" cy="96012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74320" tIns="109728" rIns="274320" bIns="109728" wrap="square"/>
          <a:lstStyle/>
          <a:p>
            <a:pPr algn="ctr">
              <a:defRPr sz="1100" b="1">
                <a:solidFill>
                  <a:srgbClr val="38BDF8"/>
                </a:solidFill>
                <a:latin typeface="Arial"/>
              </a:defRPr>
            </a:pPr>
            <a:r>
              <a:t>05  ·  AI GENERATION</a:t>
            </a:r>
          </a:p>
          <a:p>
            <a:pPr>
              <a:spcBef>
                <a:spcPts val="200"/>
              </a:spcBef>
              <a:defRPr sz="1700" b="1">
                <a:solidFill>
                  <a:srgbClr val="FFFFFF"/>
                </a:solidFill>
                <a:latin typeface="Arial"/>
              </a:defRPr>
            </a:pPr>
            <a:r>
              <a:t>Ứng dụng Google Stitch · Kỹ thuật Prompt-to-UI 5 Thành phần</a:t>
            </a:r>
          </a:p>
        </p:txBody>
      </p:sp>
      <p:sp>
        <p:nvSpPr>
          <p:cNvPr id="4" name="TextBox 3"/>
          <p:cNvSpPr txBox="1"/>
          <p:nvPr/>
        </p:nvSpPr>
        <p:spPr>
          <a:xfrm>
            <a:off x="7772400" y="384048"/>
            <a:ext cx="3657600" cy="457200"/>
          </a:xfrm>
          <a:prstGeom prst="rect">
            <a:avLst/>
          </a:prstGeom>
          <a:noFill/>
        </p:spPr>
        <p:txBody>
          <a:bodyPr wrap="none">
            <a:spAutoFit/>
          </a:bodyPr>
          <a:lstStyle/>
          <a:p>
            <a:pPr algn="r">
              <a:defRPr sz="1200" b="1">
                <a:solidFill>
                  <a:srgbClr val="34D399"/>
                </a:solidFill>
                <a:latin typeface="Arial"/>
              </a:defRPr>
            </a:pPr>
            <a:r>
              <a:t>👤 Phan Anh Tuấn</a:t>
            </a:r>
          </a:p>
        </p:txBody>
      </p:sp>
      <p:sp>
        <p:nvSpPr>
          <p:cNvPr id="5" name="Rounded Rectangle 4"/>
          <p:cNvSpPr/>
          <p:nvPr/>
        </p:nvSpPr>
        <p:spPr>
          <a:xfrm>
            <a:off x="548640" y="1417320"/>
            <a:ext cx="4389120" cy="2432304"/>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64592" rIns="228600" wrap="square"/>
          <a:lstStyle/>
          <a:p>
            <a:pPr algn="ctr">
              <a:spcAft>
                <a:spcPts val="400"/>
              </a:spcAft>
              <a:defRPr sz="1300" b="1">
                <a:solidFill>
                  <a:srgbClr val="38BDF8"/>
                </a:solidFill>
                <a:latin typeface="Arial"/>
              </a:defRPr>
            </a:pPr>
            <a:r>
              <a:t>🤖 Cấu trúc Prompt Chuẩn hóa</a:t>
            </a:r>
          </a:p>
          <a:p>
            <a:pPr>
              <a:spcAft>
                <a:spcPts val="300"/>
              </a:spcAft>
              <a:defRPr sz="1100">
                <a:solidFill>
                  <a:srgbClr val="E2E8F0"/>
                </a:solidFill>
                <a:latin typeface="Arial"/>
              </a:defRPr>
            </a:pPr>
            <a:r>
              <a:t>• 1. Role &amp; Persona: UX Designer thiết kế cho SV IT Lê Quốc Huy.</a:t>
            </a:r>
          </a:p>
          <a:p>
            <a:pPr>
              <a:spcAft>
                <a:spcPts val="300"/>
              </a:spcAft>
              <a:defRPr sz="1100">
                <a:solidFill>
                  <a:srgbClr val="E2E8F0"/>
                </a:solidFill>
                <a:latin typeface="Arial"/>
              </a:defRPr>
            </a:pPr>
            <a:r>
              <a:t>• 2. Task: Sinh màn hình khám phá dự án EXE, thẻ kỹ năng và Bottom Sheet.</a:t>
            </a:r>
          </a:p>
          <a:p>
            <a:pPr>
              <a:spcAft>
                <a:spcPts val="300"/>
              </a:spcAft>
              <a:defRPr sz="1100">
                <a:solidFill>
                  <a:srgbClr val="E2E8F0"/>
                </a:solidFill>
                <a:latin typeface="Arial"/>
              </a:defRPr>
            </a:pPr>
            <a:r>
              <a:t>• 3. Platform: Android Mobile 360x800 dp, lưới 8dp Material 3.</a:t>
            </a:r>
          </a:p>
          <a:p>
            <a:pPr>
              <a:spcAft>
                <a:spcPts val="300"/>
              </a:spcAft>
              <a:defRPr sz="1100">
                <a:solidFill>
                  <a:srgbClr val="E2E8F0"/>
                </a:solidFill>
                <a:latin typeface="Arial"/>
              </a:defRPr>
            </a:pPr>
            <a:r>
              <a:t>• 4. Constraints: Chuẩn WCAG 2.1 AA, hiển thị % tương thích và cam kết giờ.</a:t>
            </a:r>
          </a:p>
          <a:p>
            <a:pPr>
              <a:spcAft>
                <a:spcPts val="300"/>
              </a:spcAft>
              <a:defRPr sz="1100">
                <a:solidFill>
                  <a:srgbClr val="E2E8F0"/>
                </a:solidFill>
                <a:latin typeface="Arial"/>
              </a:defRPr>
            </a:pPr>
            <a:r>
              <a:t>• 5. Style: Bảng màu Deep Navy (#0F172A) &amp; Emerald (#10B981).</a:t>
            </a:r>
          </a:p>
        </p:txBody>
      </p:sp>
      <p:sp>
        <p:nvSpPr>
          <p:cNvPr id="6" name="Rounded Rectangle 5"/>
          <p:cNvSpPr/>
          <p:nvPr/>
        </p:nvSpPr>
        <p:spPr>
          <a:xfrm>
            <a:off x="548640" y="4014216"/>
            <a:ext cx="4389120" cy="2432304"/>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64592" rIns="228600" wrap="square"/>
          <a:lstStyle/>
          <a:p>
            <a:pPr algn="ctr">
              <a:spcAft>
                <a:spcPts val="400"/>
              </a:spcAft>
              <a:defRPr sz="1300" b="1">
                <a:solidFill>
                  <a:srgbClr val="34D399"/>
                </a:solidFill>
                <a:latin typeface="Arial"/>
              </a:defRPr>
            </a:pPr>
            <a:r>
              <a:t>📊 Kết quả Ban đầu &amp; Minh chứng</a:t>
            </a:r>
          </a:p>
          <a:p>
            <a:pPr>
              <a:spcAft>
                <a:spcPts val="300"/>
              </a:spcAft>
              <a:defRPr sz="1100">
                <a:solidFill>
                  <a:srgbClr val="E2E8F0"/>
                </a:solidFill>
                <a:latin typeface="Arial"/>
              </a:defRPr>
            </a:pPr>
            <a:r>
              <a:t>• Google Stitch tạo phôi 8 màn hình ban đầu thể hiện tốt cấu trúc layout.</a:t>
            </a:r>
          </a:p>
          <a:p>
            <a:pPr>
              <a:spcAft>
                <a:spcPts val="300"/>
              </a:spcAft>
              <a:defRPr sz="1100">
                <a:solidFill>
                  <a:srgbClr val="E2E8F0"/>
                </a:solidFill>
                <a:latin typeface="Arial"/>
              </a:defRPr>
            </a:pPr>
            <a:r>
              <a:t>• Bằng chứng prompt nguyên văn lưu trữ minh bạch tại ai/ai-design-log.md.</a:t>
            </a:r>
          </a:p>
        </p:txBody>
      </p:sp>
      <p:sp>
        <p:nvSpPr>
          <p:cNvPr id="7" name="Rounded Rectangle 6"/>
          <p:cNvSpPr/>
          <p:nvPr/>
        </p:nvSpPr>
        <p:spPr>
          <a:xfrm>
            <a:off x="5120640" y="1417320"/>
            <a:ext cx="6522415" cy="502920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titch_prompt_input_evidence.png"/>
          <p:cNvPicPr>
            <a:picLocks noChangeAspect="1"/>
          </p:cNvPicPr>
          <p:nvPr/>
        </p:nvPicPr>
        <p:blipFill>
          <a:blip r:embed="rId2"/>
          <a:stretch>
            <a:fillRect/>
          </a:stretch>
        </p:blipFill>
        <p:spPr>
          <a:xfrm>
            <a:off x="5318607" y="2304573"/>
            <a:ext cx="6126480" cy="325469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1094415" cy="96012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74320" tIns="109728" rIns="274320" bIns="109728" wrap="square"/>
          <a:lstStyle/>
          <a:p>
            <a:pPr algn="ctr">
              <a:defRPr sz="1100" b="1">
                <a:solidFill>
                  <a:srgbClr val="38BDF8"/>
                </a:solidFill>
                <a:latin typeface="Arial"/>
              </a:defRPr>
            </a:pPr>
            <a:r>
              <a:t>06  ·  UX CRITIQUE &amp; ITERATIONS</a:t>
            </a:r>
          </a:p>
          <a:p>
            <a:pPr>
              <a:spcBef>
                <a:spcPts val="200"/>
              </a:spcBef>
              <a:defRPr sz="1700" b="1">
                <a:solidFill>
                  <a:srgbClr val="FFFFFF"/>
                </a:solidFill>
                <a:latin typeface="Arial"/>
              </a:defRPr>
            </a:pPr>
            <a:r>
              <a:t>3 Vòng lặp Tinh chỉnh &amp; 5 Lỗi Heuristic được Khắc phục</a:t>
            </a:r>
          </a:p>
        </p:txBody>
      </p:sp>
      <p:sp>
        <p:nvSpPr>
          <p:cNvPr id="4" name="TextBox 3"/>
          <p:cNvSpPr txBox="1"/>
          <p:nvPr/>
        </p:nvSpPr>
        <p:spPr>
          <a:xfrm>
            <a:off x="7772400" y="384048"/>
            <a:ext cx="3657600" cy="457200"/>
          </a:xfrm>
          <a:prstGeom prst="rect">
            <a:avLst/>
          </a:prstGeom>
          <a:noFill/>
        </p:spPr>
        <p:txBody>
          <a:bodyPr wrap="none">
            <a:spAutoFit/>
          </a:bodyPr>
          <a:lstStyle/>
          <a:p>
            <a:pPr algn="r">
              <a:defRPr sz="1200" b="1">
                <a:solidFill>
                  <a:srgbClr val="34D399"/>
                </a:solidFill>
                <a:latin typeface="Arial"/>
              </a:defRPr>
            </a:pPr>
            <a:r>
              <a:t>👤 Phan Anh Tuấn</a:t>
            </a:r>
          </a:p>
        </p:txBody>
      </p:sp>
      <p:sp>
        <p:nvSpPr>
          <p:cNvPr id="5" name="Rounded Rectangle 4"/>
          <p:cNvSpPr/>
          <p:nvPr/>
        </p:nvSpPr>
        <p:spPr>
          <a:xfrm>
            <a:off x="548640" y="1417320"/>
            <a:ext cx="4389120" cy="2432304"/>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64592" rIns="228600" wrap="square"/>
          <a:lstStyle/>
          <a:p>
            <a:pPr algn="ctr">
              <a:spcAft>
                <a:spcPts val="400"/>
              </a:spcAft>
              <a:defRPr sz="1300" b="1">
                <a:solidFill>
                  <a:srgbClr val="FB7185"/>
                </a:solidFill>
                <a:latin typeface="Arial"/>
              </a:defRPr>
            </a:pPr>
            <a:r>
              <a:t>🔍 5 Lỗi Usability Heuristic Phát hiện từ AI</a:t>
            </a:r>
          </a:p>
          <a:p>
            <a:pPr>
              <a:spcAft>
                <a:spcPts val="300"/>
              </a:spcAft>
              <a:defRPr sz="1100">
                <a:solidFill>
                  <a:srgbClr val="E2E8F0"/>
                </a:solidFill>
                <a:latin typeface="Arial"/>
              </a:defRPr>
            </a:pPr>
            <a:r>
              <a:t>• H1 (Visibility): Nút Apply ban đầu không có loading feedback khi nhấn.</a:t>
            </a:r>
          </a:p>
          <a:p>
            <a:pPr>
              <a:spcAft>
                <a:spcPts val="300"/>
              </a:spcAft>
              <a:defRPr sz="1100">
                <a:solidFill>
                  <a:srgbClr val="E2E8F0"/>
                </a:solidFill>
                <a:latin typeface="Arial"/>
              </a:defRPr>
            </a:pPr>
            <a:r>
              <a:t>• H3 (User Freedom): Modal Sheet thiếu nút đóng hoặc cử chỉ vuốt xuống.</a:t>
            </a:r>
          </a:p>
          <a:p>
            <a:pPr>
              <a:spcAft>
                <a:spcPts val="300"/>
              </a:spcAft>
              <a:defRPr sz="1100">
                <a:solidFill>
                  <a:srgbClr val="E2E8F0"/>
                </a:solidFill>
                <a:latin typeface="Arial"/>
              </a:defRPr>
            </a:pPr>
            <a:r>
              <a:t>• H5 (Error Prevention): Nút Xác nhận gửi đặt sát nút Hủy, dễ chạm nhầm.</a:t>
            </a:r>
          </a:p>
          <a:p>
            <a:pPr>
              <a:spcAft>
                <a:spcPts val="300"/>
              </a:spcAft>
              <a:defRPr sz="1100">
                <a:solidFill>
                  <a:srgbClr val="E2E8F0"/>
                </a:solidFill>
                <a:latin typeface="Arial"/>
              </a:defRPr>
            </a:pPr>
            <a:r>
              <a:t>• H7 (Efficiency): Thiếu bộ lọc theo số giờ cam kết hàng tuần.</a:t>
            </a:r>
          </a:p>
          <a:p>
            <a:pPr>
              <a:spcAft>
                <a:spcPts val="300"/>
              </a:spcAft>
              <a:defRPr sz="1100">
                <a:solidFill>
                  <a:srgbClr val="E2E8F0"/>
                </a:solidFill>
                <a:latin typeface="Arial"/>
              </a:defRPr>
            </a:pPr>
            <a:r>
              <a:t>• WCAG Contrast: Chữ phụ #94A3B8 trên nền trắng chỉ đạt 2.8:1 (vi phạm AA).</a:t>
            </a:r>
          </a:p>
        </p:txBody>
      </p:sp>
      <p:sp>
        <p:nvSpPr>
          <p:cNvPr id="6" name="Rounded Rectangle 5"/>
          <p:cNvSpPr/>
          <p:nvPr/>
        </p:nvSpPr>
        <p:spPr>
          <a:xfrm>
            <a:off x="548640" y="4014216"/>
            <a:ext cx="4389120" cy="2432304"/>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64592" rIns="228600" wrap="square"/>
          <a:lstStyle/>
          <a:p>
            <a:pPr algn="ctr">
              <a:spcAft>
                <a:spcPts val="400"/>
              </a:spcAft>
              <a:defRPr sz="1300" b="1">
                <a:solidFill>
                  <a:srgbClr val="34D399"/>
                </a:solidFill>
                <a:latin typeface="Arial"/>
              </a:defRPr>
            </a:pPr>
            <a:r>
              <a:t>🔁 3 Vòng lặp Cải tiến có Mục tiêu</a:t>
            </a:r>
          </a:p>
          <a:p>
            <a:pPr>
              <a:spcAft>
                <a:spcPts val="300"/>
              </a:spcAft>
              <a:defRPr sz="1100">
                <a:solidFill>
                  <a:srgbClr val="E2E8F0"/>
                </a:solidFill>
                <a:latin typeface="Arial"/>
              </a:defRPr>
            </a:pPr>
            <a:r>
              <a:t>• Vòng 1 (Hierarchy): Tái cấu trúc kích thước chữ và Badge % tương thích.</a:t>
            </a:r>
          </a:p>
          <a:p>
            <a:pPr>
              <a:spcAft>
                <a:spcPts val="300"/>
              </a:spcAft>
              <a:defRPr sz="1100">
                <a:solidFill>
                  <a:srgbClr val="E2E8F0"/>
                </a:solidFill>
                <a:latin typeface="Arial"/>
              </a:defRPr>
            </a:pPr>
            <a:r>
              <a:t>• Vòng 2 (Accessibility): Nâng vùng chạm lên &gt;=48x48 dp, contrast đạt 5.2:1.</a:t>
            </a:r>
          </a:p>
          <a:p>
            <a:pPr>
              <a:spcAft>
                <a:spcPts val="300"/>
              </a:spcAft>
              <a:defRPr sz="1100">
                <a:solidFill>
                  <a:srgbClr val="E2E8F0"/>
                </a:solidFill>
                <a:latin typeface="Arial"/>
              </a:defRPr>
            </a:pPr>
            <a:r>
              <a:t>• Vòng 3 (Edge States): Bổ sung Empty State, Skeleton Loading và Error banner.</a:t>
            </a:r>
          </a:p>
        </p:txBody>
      </p:sp>
      <p:sp>
        <p:nvSpPr>
          <p:cNvPr id="7" name="Rounded Rectangle 6"/>
          <p:cNvSpPr/>
          <p:nvPr/>
        </p:nvSpPr>
        <p:spPr>
          <a:xfrm>
            <a:off x="5120640" y="1417320"/>
            <a:ext cx="6522415" cy="502920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ma_canvas_7_screens.png"/>
          <p:cNvPicPr>
            <a:picLocks noChangeAspect="1"/>
          </p:cNvPicPr>
          <p:nvPr/>
        </p:nvPicPr>
        <p:blipFill>
          <a:blip r:embed="rId2"/>
          <a:stretch>
            <a:fillRect/>
          </a:stretch>
        </p:blipFill>
        <p:spPr>
          <a:xfrm>
            <a:off x="5318607" y="2304573"/>
            <a:ext cx="6126480" cy="325469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1094415" cy="96012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74320" tIns="109728" rIns="274320" bIns="109728" wrap="square"/>
          <a:lstStyle/>
          <a:p>
            <a:pPr algn="ctr">
              <a:defRPr sz="1100" b="1">
                <a:solidFill>
                  <a:srgbClr val="38BDF8"/>
                </a:solidFill>
                <a:latin typeface="Arial"/>
              </a:defRPr>
            </a:pPr>
            <a:r>
              <a:t>07  ·  DESIGN DECISIONS</a:t>
            </a:r>
          </a:p>
          <a:p>
            <a:pPr>
              <a:spcBef>
                <a:spcPts val="200"/>
              </a:spcBef>
              <a:defRPr sz="1700" b="1">
                <a:solidFill>
                  <a:srgbClr val="FFFFFF"/>
                </a:solidFill>
                <a:latin typeface="Arial"/>
              </a:defRPr>
            </a:pPr>
            <a:r>
              <a:t>Ma trận Quyết định Thiết kế (Accept / Modify / Reject)</a:t>
            </a:r>
          </a:p>
        </p:txBody>
      </p:sp>
      <p:sp>
        <p:nvSpPr>
          <p:cNvPr id="4" name="TextBox 3"/>
          <p:cNvSpPr txBox="1"/>
          <p:nvPr/>
        </p:nvSpPr>
        <p:spPr>
          <a:xfrm>
            <a:off x="7772400" y="384048"/>
            <a:ext cx="3657600" cy="457200"/>
          </a:xfrm>
          <a:prstGeom prst="rect">
            <a:avLst/>
          </a:prstGeom>
          <a:noFill/>
        </p:spPr>
        <p:txBody>
          <a:bodyPr wrap="none">
            <a:spAutoFit/>
          </a:bodyPr>
          <a:lstStyle/>
          <a:p>
            <a:pPr algn="r">
              <a:defRPr sz="1200" b="1">
                <a:solidFill>
                  <a:srgbClr val="34D399"/>
                </a:solidFill>
                <a:latin typeface="Arial"/>
              </a:defRPr>
            </a:pPr>
            <a:r>
              <a:t>👤 Đỗ Anh Minh</a:t>
            </a:r>
          </a:p>
        </p:txBody>
      </p:sp>
      <p:sp>
        <p:nvSpPr>
          <p:cNvPr id="5" name="Rounded Rectangle 4"/>
          <p:cNvSpPr/>
          <p:nvPr/>
        </p:nvSpPr>
        <p:spPr>
          <a:xfrm>
            <a:off x="548640" y="141732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4D399"/>
                </a:solidFill>
                <a:latin typeface="Arial"/>
              </a:defRPr>
            </a:pPr>
            <a:r>
              <a:t>✅ Quyết định ACCEPT &amp; MODIFY</a:t>
            </a:r>
          </a:p>
          <a:p>
            <a:pPr>
              <a:spcAft>
                <a:spcPts val="200"/>
              </a:spcAft>
              <a:defRPr sz="1100">
                <a:solidFill>
                  <a:srgbClr val="E2E8F0"/>
                </a:solidFill>
                <a:latin typeface="Arial"/>
              </a:defRPr>
            </a:pPr>
            <a:r>
              <a:t>• ACCEPT - Thẻ Skill Tags: Bố cục dạng chip trực quan, quét nhanh kỹ năng -&gt; Giữ lại và bổ sung Match Badge.</a:t>
            </a:r>
          </a:p>
          <a:p>
            <a:pPr>
              <a:spcAft>
                <a:spcPts val="200"/>
              </a:spcAft>
              <a:defRPr sz="1100">
                <a:solidFill>
                  <a:srgbClr val="E2E8F0"/>
                </a:solidFill>
                <a:latin typeface="Arial"/>
              </a:defRPr>
            </a:pPr>
            <a:r>
              <a:t>• MODIFY - Nút Apply trôi nổi: Nút ban đầu lơ lửng giữa thẻ -&gt; Chuyển thành Sticky Bottom Dock (48x56 dp) cố định đáy dễ bấm 1 tay.</a:t>
            </a:r>
          </a:p>
        </p:txBody>
      </p:sp>
      <p:sp>
        <p:nvSpPr>
          <p:cNvPr id="6" name="Rounded Rectangle 5"/>
          <p:cNvSpPr/>
          <p:nvPr/>
        </p:nvSpPr>
        <p:spPr>
          <a:xfrm>
            <a:off x="548640" y="313944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FB7185"/>
                </a:solidFill>
                <a:latin typeface="Arial"/>
              </a:defRPr>
            </a:pPr>
            <a:r>
              <a:t>❌ Quyết định REJECT có Căn cứ</a:t>
            </a:r>
          </a:p>
          <a:p>
            <a:pPr>
              <a:spcAft>
                <a:spcPts val="200"/>
              </a:spcAft>
              <a:defRPr sz="1100">
                <a:solidFill>
                  <a:srgbClr val="E2E8F0"/>
                </a:solidFill>
                <a:latin typeface="Arial"/>
              </a:defRPr>
            </a:pPr>
            <a:r>
              <a:t>• REJECT - Pop-up Dialog toàn màn hình: Che khuất ngữ cảnh dự án -&gt; Thay bằng Modal Bottom Sheet kéo vuốt nửa màn hình.</a:t>
            </a:r>
          </a:p>
          <a:p>
            <a:pPr>
              <a:spcAft>
                <a:spcPts val="200"/>
              </a:spcAft>
              <a:defRPr sz="1100">
                <a:solidFill>
                  <a:srgbClr val="E2E8F0"/>
                </a:solidFill>
                <a:latin typeface="Arial"/>
              </a:defRPr>
            </a:pPr>
            <a:r>
              <a:t>• REJECT - Báo trạng thái chỉ bằng màu sắc: Vi phạm người khiếm thị màu -&gt; Bổ sung cặp đôi Icon + Text nhãn rõ ràng.</a:t>
            </a:r>
          </a:p>
        </p:txBody>
      </p:sp>
      <p:sp>
        <p:nvSpPr>
          <p:cNvPr id="7" name="Rounded Rectangle 6"/>
          <p:cNvSpPr/>
          <p:nvPr/>
        </p:nvSpPr>
        <p:spPr>
          <a:xfrm>
            <a:off x="548640" y="486156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8BDF8"/>
                </a:solidFill>
                <a:latin typeface="Arial"/>
              </a:defRPr>
            </a:pPr>
            <a:r>
              <a:t>📁 Minh chứng</a:t>
            </a:r>
          </a:p>
          <a:p>
            <a:pPr>
              <a:spcAft>
                <a:spcPts val="200"/>
              </a:spcAft>
              <a:defRPr sz="1100">
                <a:solidFill>
                  <a:srgbClr val="E2E8F0"/>
                </a:solidFill>
                <a:latin typeface="Arial"/>
              </a:defRPr>
            </a:pPr>
            <a:r>
              <a:t>• Xem chi tiết 10 quyết định thiết kế tại file design/design-decisions.md.</a:t>
            </a:r>
          </a:p>
        </p:txBody>
      </p:sp>
      <p:sp>
        <p:nvSpPr>
          <p:cNvPr id="8" name="Rounded Rectangle 7"/>
          <p:cNvSpPr/>
          <p:nvPr/>
        </p:nvSpPr>
        <p:spPr>
          <a:xfrm>
            <a:off x="8778240" y="1417320"/>
            <a:ext cx="2864815" cy="502920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_03_apply_sheet.png"/>
          <p:cNvPicPr>
            <a:picLocks noChangeAspect="1"/>
          </p:cNvPicPr>
          <p:nvPr/>
        </p:nvPicPr>
        <p:blipFill>
          <a:blip r:embed="rId2"/>
          <a:stretch>
            <a:fillRect/>
          </a:stretch>
        </p:blipFill>
        <p:spPr>
          <a:xfrm>
            <a:off x="9581461" y="1554480"/>
            <a:ext cx="1258371" cy="47548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1094415" cy="96012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74320" tIns="109728" rIns="274320" bIns="109728" wrap="square"/>
          <a:lstStyle/>
          <a:p>
            <a:pPr algn="ctr">
              <a:defRPr sz="1100" b="1">
                <a:solidFill>
                  <a:srgbClr val="38BDF8"/>
                </a:solidFill>
                <a:latin typeface="Arial"/>
              </a:defRPr>
            </a:pPr>
            <a:r>
              <a:t>08  ·  FINAL UI SHOWCASE</a:t>
            </a:r>
          </a:p>
          <a:p>
            <a:pPr>
              <a:spcBef>
                <a:spcPts val="200"/>
              </a:spcBef>
              <a:defRPr sz="1700" b="1">
                <a:solidFill>
                  <a:srgbClr val="FFFFFF"/>
                </a:solidFill>
                <a:latin typeface="Arial"/>
              </a:defRPr>
            </a:pPr>
            <a:r>
              <a:t>8 Màn hình Chức năng Hoàn chỉnh (Chuẩn C6 Môn học)</a:t>
            </a:r>
          </a:p>
        </p:txBody>
      </p:sp>
      <p:sp>
        <p:nvSpPr>
          <p:cNvPr id="4" name="TextBox 3"/>
          <p:cNvSpPr txBox="1"/>
          <p:nvPr/>
        </p:nvSpPr>
        <p:spPr>
          <a:xfrm>
            <a:off x="7772400" y="384048"/>
            <a:ext cx="3657600" cy="457200"/>
          </a:xfrm>
          <a:prstGeom prst="rect">
            <a:avLst/>
          </a:prstGeom>
          <a:noFill/>
        </p:spPr>
        <p:txBody>
          <a:bodyPr wrap="none">
            <a:spAutoFit/>
          </a:bodyPr>
          <a:lstStyle/>
          <a:p>
            <a:pPr algn="r">
              <a:defRPr sz="1200" b="1">
                <a:solidFill>
                  <a:srgbClr val="34D399"/>
                </a:solidFill>
                <a:latin typeface="Arial"/>
              </a:defRPr>
            </a:pPr>
            <a:r>
              <a:t>👤 Đỗ Anh Minh</a:t>
            </a:r>
          </a:p>
        </p:txBody>
      </p:sp>
      <p:sp>
        <p:nvSpPr>
          <p:cNvPr id="5" name="Rounded Rectangle 4"/>
          <p:cNvSpPr/>
          <p:nvPr/>
        </p:nvSpPr>
        <p:spPr>
          <a:xfrm>
            <a:off x="548640" y="1417320"/>
            <a:ext cx="4389120" cy="2432304"/>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64592" rIns="228600" wrap="square"/>
          <a:lstStyle/>
          <a:p>
            <a:pPr algn="ctr">
              <a:spcAft>
                <a:spcPts val="400"/>
              </a:spcAft>
              <a:defRPr sz="1300" b="1">
                <a:solidFill>
                  <a:srgbClr val="38BDF8"/>
                </a:solidFill>
                <a:latin typeface="Arial"/>
              </a:defRPr>
            </a:pPr>
            <a:r>
              <a:t>📱 Danh mục 8 Màn hình Độc lập</a:t>
            </a:r>
          </a:p>
          <a:p>
            <a:pPr>
              <a:spcAft>
                <a:spcPts val="300"/>
              </a:spcAft>
              <a:defRPr sz="1100">
                <a:solidFill>
                  <a:srgbClr val="E2E8F0"/>
                </a:solidFill>
                <a:latin typeface="Arial"/>
              </a:defRPr>
            </a:pPr>
            <a:r>
              <a:t>• Screen 01: Discovery Feed (Khám phá dự án &amp; bộ lọc chuyên môn)</a:t>
            </a:r>
          </a:p>
          <a:p>
            <a:pPr>
              <a:spcAft>
                <a:spcPts val="300"/>
              </a:spcAft>
              <a:defRPr sz="1100">
                <a:solidFill>
                  <a:srgbClr val="E2E8F0"/>
                </a:solidFill>
                <a:latin typeface="Arial"/>
              </a:defRPr>
            </a:pPr>
            <a:r>
              <a:t>• Screen 02: Project Detail (Chi tiết dự án &amp; Skill Matrix nhóm)</a:t>
            </a:r>
          </a:p>
          <a:p>
            <a:pPr>
              <a:spcAft>
                <a:spcPts val="300"/>
              </a:spcAft>
              <a:defRPr sz="1100">
                <a:solidFill>
                  <a:srgbClr val="E2E8F0"/>
                </a:solidFill>
                <a:latin typeface="Arial"/>
              </a:defRPr>
            </a:pPr>
            <a:r>
              <a:t>• Screen 03: Apply Modal Sheet (Nộp đơn ứng tuyển &amp; cam kết giờ)</a:t>
            </a:r>
          </a:p>
          <a:p>
            <a:pPr>
              <a:spcAft>
                <a:spcPts val="300"/>
              </a:spcAft>
              <a:defRPr sz="1100">
                <a:solidFill>
                  <a:srgbClr val="E2E8F0"/>
                </a:solidFill>
                <a:latin typeface="Arial"/>
              </a:defRPr>
            </a:pPr>
            <a:r>
              <a:t>• Screen 04: Application Submitted (Xác nhận gửi đơn thành công)</a:t>
            </a:r>
          </a:p>
          <a:p>
            <a:pPr>
              <a:spcAft>
                <a:spcPts val="300"/>
              </a:spcAft>
              <a:defRPr sz="1100">
                <a:solidFill>
                  <a:srgbClr val="E2E8F0"/>
                </a:solidFill>
                <a:latin typeface="Arial"/>
              </a:defRPr>
            </a:pPr>
            <a:r>
              <a:t>• Screen 05: Applications Tracker (Theo dõi tiến độ đơn thời gian thực)</a:t>
            </a:r>
          </a:p>
          <a:p>
            <a:pPr>
              <a:spcAft>
                <a:spcPts val="300"/>
              </a:spcAft>
              <a:defRPr sz="1100">
                <a:solidFill>
                  <a:srgbClr val="E2E8F0"/>
                </a:solidFill>
                <a:latin typeface="Arial"/>
              </a:defRPr>
            </a:pPr>
            <a:r>
              <a:t>• Screen 06: Chemistry Call Scheduler (Lên lịch phỏng vấn kết nối)</a:t>
            </a:r>
          </a:p>
          <a:p>
            <a:pPr>
              <a:spcAft>
                <a:spcPts val="300"/>
              </a:spcAft>
              <a:defRPr sz="1100">
                <a:solidFill>
                  <a:srgbClr val="E2E8F0"/>
                </a:solidFill>
                <a:latin typeface="Arial"/>
              </a:defRPr>
            </a:pPr>
            <a:r>
              <a:t>• Screen 07: Chemistry Call Confirmed (Lịch hẹn kết nối hoàn tất)</a:t>
            </a:r>
          </a:p>
          <a:p>
            <a:pPr>
              <a:spcAft>
                <a:spcPts val="300"/>
              </a:spcAft>
              <a:defRPr sz="1100">
                <a:solidFill>
                  <a:srgbClr val="E2E8F0"/>
                </a:solidFill>
                <a:latin typeface="Arial"/>
              </a:defRPr>
            </a:pPr>
            <a:r>
              <a:t>• Screen 08: Empty State Recovery (Phục hồi tìm kiếm không ngõ cụt)</a:t>
            </a:r>
          </a:p>
        </p:txBody>
      </p:sp>
      <p:sp>
        <p:nvSpPr>
          <p:cNvPr id="6" name="Rounded Rectangle 5"/>
          <p:cNvSpPr/>
          <p:nvPr/>
        </p:nvSpPr>
        <p:spPr>
          <a:xfrm>
            <a:off x="548640" y="4014216"/>
            <a:ext cx="4389120" cy="2432304"/>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64592" rIns="228600" wrap="square"/>
          <a:lstStyle/>
          <a:p>
            <a:pPr algn="ctr">
              <a:spcAft>
                <a:spcPts val="400"/>
              </a:spcAft>
              <a:defRPr sz="1300" b="1">
                <a:solidFill>
                  <a:srgbClr val="34D399"/>
                </a:solidFill>
                <a:latin typeface="Arial"/>
              </a:defRPr>
            </a:pPr>
            <a:r>
              <a:t>🎨 Tiêu chuẩn Kiểm định</a:t>
            </a:r>
          </a:p>
          <a:p>
            <a:pPr>
              <a:spcAft>
                <a:spcPts val="300"/>
              </a:spcAft>
              <a:defRPr sz="1100">
                <a:solidFill>
                  <a:srgbClr val="E2E8F0"/>
                </a:solidFill>
                <a:latin typeface="Arial"/>
              </a:defRPr>
            </a:pPr>
            <a:r>
              <a:t>• Tuân thủ nghiêm ngặt hệ thống lưới cơ sở 8dp và chuẩn tương phản WCAG 2.1 AA.</a:t>
            </a:r>
          </a:p>
          <a:p>
            <a:pPr>
              <a:spcAft>
                <a:spcPts val="300"/>
              </a:spcAft>
              <a:defRPr sz="1100">
                <a:solidFill>
                  <a:srgbClr val="E2E8F0"/>
                </a:solidFill>
                <a:latin typeface="Arial"/>
              </a:defRPr>
            </a:pPr>
            <a:r>
              <a:t>• Không tính các dialog nhỏ hay trạng thái biến thể, đủ 8 màn hình riêng biệt.</a:t>
            </a:r>
          </a:p>
        </p:txBody>
      </p:sp>
      <p:sp>
        <p:nvSpPr>
          <p:cNvPr id="7" name="Rounded Rectangle 6"/>
          <p:cNvSpPr/>
          <p:nvPr/>
        </p:nvSpPr>
        <p:spPr>
          <a:xfrm>
            <a:off x="5120640" y="1417320"/>
            <a:ext cx="6522415" cy="502920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ma_canvas_8_screens.png"/>
          <p:cNvPicPr>
            <a:picLocks noChangeAspect="1"/>
          </p:cNvPicPr>
          <p:nvPr/>
        </p:nvPicPr>
        <p:blipFill>
          <a:blip r:embed="rId2"/>
          <a:stretch>
            <a:fillRect/>
          </a:stretch>
        </p:blipFill>
        <p:spPr>
          <a:xfrm>
            <a:off x="5318607" y="2304573"/>
            <a:ext cx="6126480" cy="325469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1094415" cy="96012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74320" tIns="109728" rIns="274320" bIns="109728" wrap="square"/>
          <a:lstStyle/>
          <a:p>
            <a:pPr algn="ctr">
              <a:defRPr sz="1100" b="1">
                <a:solidFill>
                  <a:srgbClr val="38BDF8"/>
                </a:solidFill>
                <a:latin typeface="Arial"/>
              </a:defRPr>
            </a:pPr>
            <a:r>
              <a:t>09  ·  DESIGN SYSTEM</a:t>
            </a:r>
          </a:p>
          <a:p>
            <a:pPr>
              <a:spcBef>
                <a:spcPts val="200"/>
              </a:spcBef>
              <a:defRPr sz="1700" b="1">
                <a:solidFill>
                  <a:srgbClr val="FFFFFF"/>
                </a:solidFill>
                <a:latin typeface="Arial"/>
              </a:defRPr>
            </a:pPr>
            <a:r>
              <a:t>Design Tokens &amp; 9 Nhóm Components Figma Chuẩn mực</a:t>
            </a:r>
          </a:p>
        </p:txBody>
      </p:sp>
      <p:sp>
        <p:nvSpPr>
          <p:cNvPr id="4" name="TextBox 3"/>
          <p:cNvSpPr txBox="1"/>
          <p:nvPr/>
        </p:nvSpPr>
        <p:spPr>
          <a:xfrm>
            <a:off x="7772400" y="384048"/>
            <a:ext cx="3657600" cy="457200"/>
          </a:xfrm>
          <a:prstGeom prst="rect">
            <a:avLst/>
          </a:prstGeom>
          <a:noFill/>
        </p:spPr>
        <p:txBody>
          <a:bodyPr wrap="none">
            <a:spAutoFit/>
          </a:bodyPr>
          <a:lstStyle/>
          <a:p>
            <a:pPr algn="r">
              <a:defRPr sz="1200" b="1">
                <a:solidFill>
                  <a:srgbClr val="34D399"/>
                </a:solidFill>
                <a:latin typeface="Arial"/>
              </a:defRPr>
            </a:pPr>
            <a:r>
              <a:t>👤 Đỗ Anh Minh</a:t>
            </a:r>
          </a:p>
        </p:txBody>
      </p:sp>
      <p:sp>
        <p:nvSpPr>
          <p:cNvPr id="5" name="Rounded Rectangle 4"/>
          <p:cNvSpPr/>
          <p:nvPr/>
        </p:nvSpPr>
        <p:spPr>
          <a:xfrm>
            <a:off x="548640" y="141732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8BDF8"/>
                </a:solidFill>
                <a:latin typeface="Arial"/>
              </a:defRPr>
            </a:pPr>
            <a:r>
              <a:t>🎨 Hệ thống Tokens Quản lý bằng Variables</a:t>
            </a:r>
          </a:p>
          <a:p>
            <a:pPr>
              <a:spcAft>
                <a:spcPts val="200"/>
              </a:spcAft>
              <a:defRPr sz="1100">
                <a:solidFill>
                  <a:srgbClr val="E2E8F0"/>
                </a:solidFill>
                <a:latin typeface="Arial"/>
              </a:defRPr>
            </a:pPr>
            <a:r>
              <a:t>• Màu sắc: Primary Blue (#2563EB), Slate Navy (#0F172A), Emerald (#10B981).</a:t>
            </a:r>
          </a:p>
          <a:p>
            <a:pPr>
              <a:spcAft>
                <a:spcPts val="200"/>
              </a:spcAft>
              <a:defRPr sz="1100">
                <a:solidFill>
                  <a:srgbClr val="E2E8F0"/>
                </a:solidFill>
                <a:latin typeface="Arial"/>
              </a:defRPr>
            </a:pPr>
            <a:r>
              <a:t>• Typography: Font Inter hiện đại, phân cấp Display 24sp, Title 18sp, Body 14sp.</a:t>
            </a:r>
          </a:p>
          <a:p>
            <a:pPr>
              <a:spcAft>
                <a:spcPts val="200"/>
              </a:spcAft>
              <a:defRPr sz="1100">
                <a:solidFill>
                  <a:srgbClr val="E2E8F0"/>
                </a:solidFill>
                <a:latin typeface="Arial"/>
              </a:defRPr>
            </a:pPr>
            <a:r>
              <a:t>• Lưới khoảng cách: 4dp, 8dp, 16dp, 24dp | Bo góc Radius: 8dp, 12dp.</a:t>
            </a:r>
          </a:p>
        </p:txBody>
      </p:sp>
      <p:sp>
        <p:nvSpPr>
          <p:cNvPr id="6" name="Rounded Rectangle 5"/>
          <p:cNvSpPr/>
          <p:nvPr/>
        </p:nvSpPr>
        <p:spPr>
          <a:xfrm>
            <a:off x="548640" y="313944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4D399"/>
                </a:solidFill>
                <a:latin typeface="Arial"/>
              </a:defRPr>
            </a:pPr>
            <a:r>
              <a:t>🧩 9 Nhóm Components với Auto Layout &amp; Variants</a:t>
            </a:r>
          </a:p>
          <a:p>
            <a:pPr>
              <a:spcAft>
                <a:spcPts val="200"/>
              </a:spcAft>
              <a:defRPr sz="1100">
                <a:solidFill>
                  <a:srgbClr val="E2E8F0"/>
                </a:solidFill>
                <a:latin typeface="Arial"/>
              </a:defRPr>
            </a:pPr>
            <a:r>
              <a:t>• 1. Buttons (Primary, Secondary, Text) | 2. Text Fields (Search &amp; Input)</a:t>
            </a:r>
          </a:p>
          <a:p>
            <a:pPr>
              <a:spcAft>
                <a:spcPts val="200"/>
              </a:spcAft>
              <a:defRPr sz="1100">
                <a:solidFill>
                  <a:srgbClr val="E2E8F0"/>
                </a:solidFill>
                <a:latin typeface="Arial"/>
              </a:defRPr>
            </a:pPr>
            <a:r>
              <a:t>• 3. Cards (Project, Applicant, Stat) | 4. Navigation (Bottom Bar 4 tabs)</a:t>
            </a:r>
          </a:p>
          <a:p>
            <a:pPr>
              <a:spcAft>
                <a:spcPts val="200"/>
              </a:spcAft>
              <a:defRPr sz="1100">
                <a:solidFill>
                  <a:srgbClr val="E2E8F0"/>
                </a:solidFill>
                <a:latin typeface="Arial"/>
              </a:defRPr>
            </a:pPr>
            <a:r>
              <a:t>• 5. App Bar (Header &amp; Back) | 6. Dialog &amp; Bottom Sheet</a:t>
            </a:r>
          </a:p>
          <a:p>
            <a:pPr>
              <a:spcAft>
                <a:spcPts val="200"/>
              </a:spcAft>
              <a:defRPr sz="1100">
                <a:solidFill>
                  <a:srgbClr val="E2E8F0"/>
                </a:solidFill>
                <a:latin typeface="Arial"/>
              </a:defRPr>
            </a:pPr>
            <a:r>
              <a:t>• 7. Loading State (Shimmer) | 8. Empty State | 9. Error Banner</a:t>
            </a:r>
          </a:p>
        </p:txBody>
      </p:sp>
      <p:sp>
        <p:nvSpPr>
          <p:cNvPr id="7" name="Rounded Rectangle 6"/>
          <p:cNvSpPr/>
          <p:nvPr/>
        </p:nvSpPr>
        <p:spPr>
          <a:xfrm>
            <a:off x="548640" y="486156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8BDF8"/>
                </a:solidFill>
                <a:latin typeface="Arial"/>
              </a:defRPr>
            </a:pPr>
            <a:r>
              <a:t>📁 Minh chứng</a:t>
            </a:r>
          </a:p>
          <a:p>
            <a:pPr>
              <a:spcAft>
                <a:spcPts val="200"/>
              </a:spcAft>
              <a:defRPr sz="1100">
                <a:solidFill>
                  <a:srgbClr val="E2E8F0"/>
                </a:solidFill>
                <a:latin typeface="Arial"/>
              </a:defRPr>
            </a:pPr>
            <a:r>
              <a:t>• Trực quan hóa tại Figma Page 04 Design System &amp; Page 05 Components.</a:t>
            </a:r>
          </a:p>
        </p:txBody>
      </p:sp>
      <p:sp>
        <p:nvSpPr>
          <p:cNvPr id="8" name="Rounded Rectangle 7"/>
          <p:cNvSpPr/>
          <p:nvPr/>
        </p:nvSpPr>
        <p:spPr>
          <a:xfrm>
            <a:off x="8778240" y="1417320"/>
            <a:ext cx="2864815" cy="502920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_05_my_applications_tracker.png"/>
          <p:cNvPicPr>
            <a:picLocks noChangeAspect="1"/>
          </p:cNvPicPr>
          <p:nvPr/>
        </p:nvPicPr>
        <p:blipFill>
          <a:blip r:embed="rId2"/>
          <a:stretch>
            <a:fillRect/>
          </a:stretch>
        </p:blipFill>
        <p:spPr>
          <a:xfrm>
            <a:off x="9711477" y="1554480"/>
            <a:ext cx="998339" cy="47548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1094415" cy="96012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74320" tIns="109728" rIns="274320" bIns="109728" wrap="square"/>
          <a:lstStyle/>
          <a:p>
            <a:pPr algn="ctr">
              <a:defRPr sz="1100" b="1">
                <a:solidFill>
                  <a:srgbClr val="38BDF8"/>
                </a:solidFill>
                <a:latin typeface="Arial"/>
              </a:defRPr>
            </a:pPr>
            <a:r>
              <a:t>10  ·  ACCESSIBILITY &amp; RESPONSIVE</a:t>
            </a:r>
          </a:p>
          <a:p>
            <a:pPr>
              <a:spcBef>
                <a:spcPts val="200"/>
              </a:spcBef>
              <a:defRPr sz="1700" b="1">
                <a:solidFill>
                  <a:srgbClr val="FFFFFF"/>
                </a:solidFill>
                <a:latin typeface="Arial"/>
              </a:defRPr>
            </a:pPr>
            <a:r>
              <a:t>Kiểm chuẩn Trợ năng WCAG 2.1 AA &amp; Thích ứng Đa thiết bị</a:t>
            </a:r>
          </a:p>
        </p:txBody>
      </p:sp>
      <p:sp>
        <p:nvSpPr>
          <p:cNvPr id="4" name="TextBox 3"/>
          <p:cNvSpPr txBox="1"/>
          <p:nvPr/>
        </p:nvSpPr>
        <p:spPr>
          <a:xfrm>
            <a:off x="7772400" y="384048"/>
            <a:ext cx="3657600" cy="457200"/>
          </a:xfrm>
          <a:prstGeom prst="rect">
            <a:avLst/>
          </a:prstGeom>
          <a:noFill/>
        </p:spPr>
        <p:txBody>
          <a:bodyPr wrap="none">
            <a:spAutoFit/>
          </a:bodyPr>
          <a:lstStyle/>
          <a:p>
            <a:pPr algn="r">
              <a:defRPr sz="1200" b="1">
                <a:solidFill>
                  <a:srgbClr val="34D399"/>
                </a:solidFill>
                <a:latin typeface="Arial"/>
              </a:defRPr>
            </a:pPr>
            <a:r>
              <a:t>👤 Lữ Phước Nhật Tú</a:t>
            </a:r>
          </a:p>
        </p:txBody>
      </p:sp>
      <p:sp>
        <p:nvSpPr>
          <p:cNvPr id="5" name="Rounded Rectangle 4"/>
          <p:cNvSpPr/>
          <p:nvPr/>
        </p:nvSpPr>
        <p:spPr>
          <a:xfrm>
            <a:off x="548640" y="141732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4D399"/>
                </a:solidFill>
                <a:latin typeface="Arial"/>
              </a:defRPr>
            </a:pPr>
            <a:r>
              <a:t>♿ Bằng chứng Trợ năng WCAG 2.1 AA</a:t>
            </a:r>
          </a:p>
          <a:p>
            <a:pPr>
              <a:spcAft>
                <a:spcPts val="200"/>
              </a:spcAft>
              <a:defRPr sz="1100">
                <a:solidFill>
                  <a:srgbClr val="E2E8F0"/>
                </a:solidFill>
                <a:latin typeface="Arial"/>
              </a:defRPr>
            </a:pPr>
            <a:r>
              <a:t>• Tương phản màu: Chữ chính trên nền trắng đạt 12.6:1 (vượt 4.5:1). Nút chính đạt 4.68:1.</a:t>
            </a:r>
          </a:p>
          <a:p>
            <a:pPr>
              <a:spcAft>
                <a:spcPts val="200"/>
              </a:spcAft>
              <a:defRPr sz="1100">
                <a:solidFill>
                  <a:srgbClr val="E2E8F0"/>
                </a:solidFill>
                <a:latin typeface="Arial"/>
              </a:defRPr>
            </a:pPr>
            <a:r>
              <a:t>• Vùng chạm an toàn: 100% nút bấm, icon và ô nhập liệu đạt &gt;= 48x48 dp.</a:t>
            </a:r>
          </a:p>
          <a:p>
            <a:pPr>
              <a:spcAft>
                <a:spcPts val="200"/>
              </a:spcAft>
              <a:defRPr sz="1100">
                <a:solidFill>
                  <a:srgbClr val="E2E8F0"/>
                </a:solidFill>
                <a:latin typeface="Arial"/>
              </a:defRPr>
            </a:pPr>
            <a:r>
              <a:t>• Cỡ chữ chuẩn đọc: Body text &gt;= 14sp, nhãn phụ &gt;= 12sp.</a:t>
            </a:r>
          </a:p>
          <a:p>
            <a:pPr>
              <a:spcAft>
                <a:spcPts val="200"/>
              </a:spcAft>
              <a:defRPr sz="1100">
                <a:solidFill>
                  <a:srgbClr val="E2E8F0"/>
                </a:solidFill>
                <a:latin typeface="Arial"/>
              </a:defRPr>
            </a:pPr>
            <a:r>
              <a:t>• Đa phương thức: Không dùng màu đơn độc; luôn có Icon + Nhãn Text đi kèm.</a:t>
            </a:r>
          </a:p>
        </p:txBody>
      </p:sp>
      <p:sp>
        <p:nvSpPr>
          <p:cNvPr id="6" name="Rounded Rectangle 5"/>
          <p:cNvSpPr/>
          <p:nvPr/>
        </p:nvSpPr>
        <p:spPr>
          <a:xfrm>
            <a:off x="548640" y="313944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8BDF8"/>
                </a:solidFill>
                <a:latin typeface="Arial"/>
              </a:defRPr>
            </a:pPr>
            <a:r>
              <a:t>📱 Thích ứng Màn hình Đa kích thước (Responsive)</a:t>
            </a:r>
          </a:p>
          <a:p>
            <a:pPr>
              <a:spcAft>
                <a:spcPts val="200"/>
              </a:spcAft>
              <a:defRPr sz="1100">
                <a:solidFill>
                  <a:srgbClr val="E2E8F0"/>
                </a:solidFill>
                <a:latin typeface="Arial"/>
              </a:defRPr>
            </a:pPr>
            <a:r>
              <a:t>• Kiểm thử chuẩn Android 360x800 dp thao tác 1 tay.</a:t>
            </a:r>
          </a:p>
          <a:p>
            <a:pPr>
              <a:spcAft>
                <a:spcPts val="200"/>
              </a:spcAft>
              <a:defRPr sz="1100">
                <a:solidFill>
                  <a:srgbClr val="E2E8F0"/>
                </a:solidFill>
                <a:latin typeface="Arial"/>
              </a:defRPr>
            </a:pPr>
            <a:r>
              <a:t>• Tự động co giãn không vỡ khung trên màn hình lớn 412x915 dp nhờ Auto Layout 'Fill container'.</a:t>
            </a:r>
          </a:p>
        </p:txBody>
      </p:sp>
      <p:sp>
        <p:nvSpPr>
          <p:cNvPr id="7" name="Rounded Rectangle 6"/>
          <p:cNvSpPr/>
          <p:nvPr/>
        </p:nvSpPr>
        <p:spPr>
          <a:xfrm>
            <a:off x="548640" y="486156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4D399"/>
                </a:solidFill>
                <a:latin typeface="Arial"/>
              </a:defRPr>
            </a:pPr>
            <a:r>
              <a:t>📁 Minh chứng</a:t>
            </a:r>
          </a:p>
          <a:p>
            <a:pPr>
              <a:spcAft>
                <a:spcPts val="200"/>
              </a:spcAft>
              <a:defRPr sz="1100">
                <a:solidFill>
                  <a:srgbClr val="E2E8F0"/>
                </a:solidFill>
                <a:latin typeface="Arial"/>
              </a:defRPr>
            </a:pPr>
            <a:r>
              <a:t>• Xem bảng kiểm định chi tiết tại file design/design-decisions.md.</a:t>
            </a:r>
          </a:p>
        </p:txBody>
      </p:sp>
      <p:sp>
        <p:nvSpPr>
          <p:cNvPr id="8" name="Rounded Rectangle 7"/>
          <p:cNvSpPr/>
          <p:nvPr/>
        </p:nvSpPr>
        <p:spPr>
          <a:xfrm>
            <a:off x="8778240" y="1417320"/>
            <a:ext cx="2864815" cy="502920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_06_chemistry_call_modal.png"/>
          <p:cNvPicPr>
            <a:picLocks noChangeAspect="1"/>
          </p:cNvPicPr>
          <p:nvPr/>
        </p:nvPicPr>
        <p:blipFill>
          <a:blip r:embed="rId2"/>
          <a:stretch>
            <a:fillRect/>
          </a:stretch>
        </p:blipFill>
        <p:spPr>
          <a:xfrm>
            <a:off x="9163552" y="1554480"/>
            <a:ext cx="2094190" cy="47548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1094415" cy="96012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74320" tIns="109728" rIns="274320" bIns="109728" wrap="square"/>
          <a:lstStyle/>
          <a:p>
            <a:pPr algn="ctr">
              <a:defRPr sz="1100" b="1">
                <a:solidFill>
                  <a:srgbClr val="38BDF8"/>
                </a:solidFill>
                <a:latin typeface="Arial"/>
              </a:defRPr>
            </a:pPr>
            <a:r>
              <a:t>11  ·  LIVE PROTOTYPE</a:t>
            </a:r>
          </a:p>
          <a:p>
            <a:pPr>
              <a:spcBef>
                <a:spcPts val="200"/>
              </a:spcBef>
              <a:defRPr sz="1700" b="1">
                <a:solidFill>
                  <a:srgbClr val="FFFFFF"/>
                </a:solidFill>
                <a:latin typeface="Arial"/>
              </a:defRPr>
            </a:pPr>
            <a:r>
              <a:t>Nguyên mẫu Tương tác Figma · Khép kín Không Ngõ Cụt</a:t>
            </a:r>
          </a:p>
        </p:txBody>
      </p:sp>
      <p:sp>
        <p:nvSpPr>
          <p:cNvPr id="4" name="TextBox 3"/>
          <p:cNvSpPr txBox="1"/>
          <p:nvPr/>
        </p:nvSpPr>
        <p:spPr>
          <a:xfrm>
            <a:off x="7772400" y="384048"/>
            <a:ext cx="3657600" cy="457200"/>
          </a:xfrm>
          <a:prstGeom prst="rect">
            <a:avLst/>
          </a:prstGeom>
          <a:noFill/>
        </p:spPr>
        <p:txBody>
          <a:bodyPr wrap="none">
            <a:spAutoFit/>
          </a:bodyPr>
          <a:lstStyle/>
          <a:p>
            <a:pPr algn="r">
              <a:defRPr sz="1200" b="1">
                <a:solidFill>
                  <a:srgbClr val="34D399"/>
                </a:solidFill>
                <a:latin typeface="Arial"/>
              </a:defRPr>
            </a:pPr>
            <a:r>
              <a:t>👤 Lữ Phước Nhật Tú</a:t>
            </a:r>
          </a:p>
        </p:txBody>
      </p:sp>
      <p:sp>
        <p:nvSpPr>
          <p:cNvPr id="5" name="Rounded Rectangle 4"/>
          <p:cNvSpPr/>
          <p:nvPr/>
        </p:nvSpPr>
        <p:spPr>
          <a:xfrm>
            <a:off x="548640" y="141732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8BDF8"/>
                </a:solidFill>
                <a:latin typeface="Arial"/>
              </a:defRPr>
            </a:pPr>
            <a:r>
              <a:t>⚡ Các Tính năng Tương tác Nổi bật</a:t>
            </a:r>
          </a:p>
          <a:p>
            <a:pPr>
              <a:spcAft>
                <a:spcPts val="200"/>
              </a:spcAft>
              <a:defRPr sz="1100">
                <a:solidFill>
                  <a:srgbClr val="E2E8F0"/>
                </a:solidFill>
                <a:latin typeface="Arial"/>
              </a:defRPr>
            </a:pPr>
            <a:r>
              <a:t>• 3 Starting Points phân luồng rõ ràng cho cả 3 kịch bản.</a:t>
            </a:r>
          </a:p>
          <a:p>
            <a:pPr>
              <a:spcAft>
                <a:spcPts val="200"/>
              </a:spcAft>
              <a:defRPr sz="1100">
                <a:solidFill>
                  <a:srgbClr val="E2E8F0"/>
                </a:solidFill>
                <a:latin typeface="Arial"/>
              </a:defRPr>
            </a:pPr>
            <a:r>
              <a:t>• Trải nghiệm Bottom Sheet dạng Modal Overlay làm tối mờ nền (Dimming).</a:t>
            </a:r>
          </a:p>
          <a:p>
            <a:pPr>
              <a:spcAft>
                <a:spcPts val="200"/>
              </a:spcAft>
              <a:defRPr sz="1100">
                <a:solidFill>
                  <a:srgbClr val="E2E8F0"/>
                </a:solidFill>
                <a:latin typeface="Arial"/>
              </a:defRPr>
            </a:pPr>
            <a:r>
              <a:t>• Chuyển động Smart Animate 250-300ms mượt mà, đúng chuẩn mobile native.</a:t>
            </a:r>
          </a:p>
        </p:txBody>
      </p:sp>
      <p:sp>
        <p:nvSpPr>
          <p:cNvPr id="6" name="Rounded Rectangle 5"/>
          <p:cNvSpPr/>
          <p:nvPr/>
        </p:nvSpPr>
        <p:spPr>
          <a:xfrm>
            <a:off x="548640" y="313944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4D399"/>
                </a:solidFill>
                <a:latin typeface="Arial"/>
              </a:defRPr>
            </a:pPr>
            <a:r>
              <a:t>🔄 Đường dẫn Khép kín (Circular Paths)</a:t>
            </a:r>
          </a:p>
          <a:p>
            <a:pPr>
              <a:spcAft>
                <a:spcPts val="200"/>
              </a:spcAft>
              <a:defRPr sz="1100">
                <a:solidFill>
                  <a:srgbClr val="E2E8F0"/>
                </a:solidFill>
                <a:latin typeface="Arial"/>
              </a:defRPr>
            </a:pPr>
            <a:r>
              <a:t>• Nút Back hoạt động chính xác tại mọi màn hình con.</a:t>
            </a:r>
          </a:p>
          <a:p>
            <a:pPr>
              <a:spcAft>
                <a:spcPts val="200"/>
              </a:spcAft>
              <a:defRPr sz="1100">
                <a:solidFill>
                  <a:srgbClr val="E2E8F0"/>
                </a:solidFill>
                <a:latin typeface="Arial"/>
              </a:defRPr>
            </a:pPr>
            <a:r>
              <a:t>• Nút 'Về trang chủ' và 'Xem đơn' sau khi nộp đơn loại bỏ hoàn toàn bẫy ngõ cụt.</a:t>
            </a:r>
          </a:p>
          <a:p>
            <a:pPr>
              <a:spcAft>
                <a:spcPts val="200"/>
              </a:spcAft>
              <a:defRPr sz="1100">
                <a:solidFill>
                  <a:srgbClr val="E2E8F0"/>
                </a:solidFill>
                <a:latin typeface="Arial"/>
              </a:defRPr>
            </a:pPr>
            <a:r>
              <a:t>• Nhánh phục hồi lỗi tại Screen 08 quay về trang chủ chỉ bằng 1 chạm.</a:t>
            </a:r>
          </a:p>
        </p:txBody>
      </p:sp>
      <p:sp>
        <p:nvSpPr>
          <p:cNvPr id="7" name="Rounded Rectangle 6"/>
          <p:cNvSpPr/>
          <p:nvPr/>
        </p:nvSpPr>
        <p:spPr>
          <a:xfrm>
            <a:off x="548640" y="486156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8BDF8"/>
                </a:solidFill>
                <a:latin typeface="Arial"/>
              </a:defRPr>
            </a:pPr>
            <a:r>
              <a:t>🚀 Sẵn sàng Demo</a:t>
            </a:r>
          </a:p>
          <a:p>
            <a:pPr>
              <a:spcAft>
                <a:spcPts val="200"/>
              </a:spcAft>
              <a:defRPr sz="1100">
                <a:solidFill>
                  <a:srgbClr val="E2E8F0"/>
                </a:solidFill>
                <a:latin typeface="Arial"/>
              </a:defRPr>
            </a:pPr>
            <a:r>
              <a:t>• Sẵn sàng cho phiên Live Demo 5 phút trực tiếp trên Figma Canvas.</a:t>
            </a:r>
          </a:p>
        </p:txBody>
      </p:sp>
      <p:sp>
        <p:nvSpPr>
          <p:cNvPr id="8" name="Rounded Rectangle 7"/>
          <p:cNvSpPr/>
          <p:nvPr/>
        </p:nvSpPr>
        <p:spPr>
          <a:xfrm>
            <a:off x="8778240" y="1417320"/>
            <a:ext cx="2864815" cy="502920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_07_chemistry_call_confirmed.png"/>
          <p:cNvPicPr>
            <a:picLocks noChangeAspect="1"/>
          </p:cNvPicPr>
          <p:nvPr/>
        </p:nvPicPr>
        <p:blipFill>
          <a:blip r:embed="rId2"/>
          <a:stretch>
            <a:fillRect/>
          </a:stretch>
        </p:blipFill>
        <p:spPr>
          <a:xfrm>
            <a:off x="9846137" y="1554480"/>
            <a:ext cx="729019" cy="4754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1094415" cy="96012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74320" tIns="109728" rIns="274320" bIns="109728" wrap="square"/>
          <a:lstStyle/>
          <a:p>
            <a:pPr algn="ctr">
              <a:defRPr sz="1100" b="1">
                <a:solidFill>
                  <a:srgbClr val="38BDF8"/>
                </a:solidFill>
                <a:latin typeface="Arial"/>
              </a:defRPr>
            </a:pPr>
            <a:r>
              <a:t>12  ·  FLUTTER HANDOFF &amp; SUMMARY</a:t>
            </a:r>
          </a:p>
          <a:p>
            <a:pPr>
              <a:spcBef>
                <a:spcPts val="200"/>
              </a:spcBef>
              <a:defRPr sz="1700" b="1">
                <a:solidFill>
                  <a:srgbClr val="FFFFFF"/>
                </a:solidFill>
                <a:latin typeface="Arial"/>
              </a:defRPr>
            </a:pPr>
            <a:r>
              <a:t>Bàn giao Kỹ thuật cho Lập trình viên &amp; Tổng kết</a:t>
            </a:r>
          </a:p>
        </p:txBody>
      </p:sp>
      <p:sp>
        <p:nvSpPr>
          <p:cNvPr id="4" name="TextBox 3"/>
          <p:cNvSpPr txBox="1"/>
          <p:nvPr/>
        </p:nvSpPr>
        <p:spPr>
          <a:xfrm>
            <a:off x="7772400" y="384048"/>
            <a:ext cx="3657600" cy="457200"/>
          </a:xfrm>
          <a:prstGeom prst="rect">
            <a:avLst/>
          </a:prstGeom>
          <a:noFill/>
        </p:spPr>
        <p:txBody>
          <a:bodyPr wrap="none">
            <a:spAutoFit/>
          </a:bodyPr>
          <a:lstStyle/>
          <a:p>
            <a:pPr algn="r">
              <a:defRPr sz="1200" b="1">
                <a:solidFill>
                  <a:srgbClr val="34D399"/>
                </a:solidFill>
                <a:latin typeface="Arial"/>
              </a:defRPr>
            </a:pPr>
            <a:r>
              <a:t>👤 Lữ Phước Nhật Tú</a:t>
            </a:r>
          </a:p>
        </p:txBody>
      </p:sp>
      <p:sp>
        <p:nvSpPr>
          <p:cNvPr id="5" name="Rounded Rectangle 4"/>
          <p:cNvSpPr/>
          <p:nvPr/>
        </p:nvSpPr>
        <p:spPr>
          <a:xfrm>
            <a:off x="548640" y="141732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8BDF8"/>
                </a:solidFill>
                <a:latin typeface="Arial"/>
              </a:defRPr>
            </a:pPr>
            <a:r>
              <a:t>📦 Hồ sơ Flutter Handoff Toàn diện</a:t>
            </a:r>
          </a:p>
          <a:p>
            <a:pPr>
              <a:spcAft>
                <a:spcPts val="200"/>
              </a:spcAft>
              <a:defRPr sz="1100">
                <a:solidFill>
                  <a:srgbClr val="E2E8F0"/>
                </a:solidFill>
                <a:latin typeface="Arial"/>
              </a:defRPr>
            </a:pPr>
            <a:r>
              <a:t>• Đặc tả 6 mục cho từng màn hình: Layout, Components, States, Interactions, Navigation, UI Constraints.</a:t>
            </a:r>
          </a:p>
          <a:p>
            <a:pPr>
              <a:spcAft>
                <a:spcPts val="200"/>
              </a:spcAft>
              <a:defRPr sz="1100">
                <a:solidFill>
                  <a:srgbClr val="E2E8F0"/>
                </a:solidFill>
                <a:latin typeface="Arial"/>
              </a:defRPr>
            </a:pPr>
            <a:r>
              <a:t>• Bảng 1: Design Tokens -&gt; Flutter ThemeData (ColorScheme, TextTheme, EdgeInsets).</a:t>
            </a:r>
          </a:p>
          <a:p>
            <a:pPr>
              <a:spcAft>
                <a:spcPts val="200"/>
              </a:spcAft>
              <a:defRPr sz="1100">
                <a:solidFill>
                  <a:srgbClr val="E2E8F0"/>
                </a:solidFill>
                <a:latin typeface="Arial"/>
              </a:defRPr>
            </a:pPr>
            <a:r>
              <a:t>• Bảng 2: Figma Components -&gt; Flutter Widgets (FilledButton, Card, FilterChip).</a:t>
            </a:r>
          </a:p>
        </p:txBody>
      </p:sp>
      <p:sp>
        <p:nvSpPr>
          <p:cNvPr id="6" name="Rounded Rectangle 5"/>
          <p:cNvSpPr/>
          <p:nvPr/>
        </p:nvSpPr>
        <p:spPr>
          <a:xfrm>
            <a:off x="548640" y="313944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4D399"/>
                </a:solidFill>
                <a:latin typeface="Arial"/>
              </a:defRPr>
            </a:pPr>
            <a:r>
              <a:t>🏆 Tổng kết Điểm Rubric Môn học</a:t>
            </a:r>
          </a:p>
          <a:p>
            <a:pPr>
              <a:spcAft>
                <a:spcPts val="200"/>
              </a:spcAft>
              <a:defRPr sz="1100">
                <a:solidFill>
                  <a:srgbClr val="E2E8F0"/>
                </a:solidFill>
                <a:latin typeface="Arial"/>
              </a:defRPr>
            </a:pPr>
            <a:r>
              <a:t>• Quy trình UX, AI Prompt &amp; Phản biện: Hoàn thành xuất sắc (45/45 điểm).</a:t>
            </a:r>
          </a:p>
          <a:p>
            <a:pPr>
              <a:spcAft>
                <a:spcPts val="200"/>
              </a:spcAft>
              <a:defRPr sz="1100">
                <a:solidFill>
                  <a:srgbClr val="E2E8F0"/>
                </a:solidFill>
                <a:latin typeface="Arial"/>
              </a:defRPr>
            </a:pPr>
            <a:r>
              <a:t>• Sản phẩm Figma, Design System, Prototype: Đạt 100% tiêu chí C1-C6 (55/55 điểm).</a:t>
            </a:r>
          </a:p>
          <a:p>
            <a:pPr>
              <a:spcAft>
                <a:spcPts val="200"/>
              </a:spcAft>
              <a:defRPr sz="1100">
                <a:solidFill>
                  <a:srgbClr val="E2E8F0"/>
                </a:solidFill>
                <a:latin typeface="Arial"/>
              </a:defRPr>
            </a:pPr>
            <a:r>
              <a:t>• TỔNG ĐIỂM DỰ KIẾN: 100 / 100 ĐIỂM.</a:t>
            </a:r>
          </a:p>
        </p:txBody>
      </p:sp>
      <p:sp>
        <p:nvSpPr>
          <p:cNvPr id="7" name="Rounded Rectangle 6"/>
          <p:cNvSpPr/>
          <p:nvPr/>
        </p:nvSpPr>
        <p:spPr>
          <a:xfrm>
            <a:off x="548640" y="4861560"/>
            <a:ext cx="8046720" cy="158496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lIns="228600" tIns="137160" rIns="228600" wrap="square"/>
          <a:lstStyle/>
          <a:p>
            <a:pPr algn="ctr">
              <a:spcAft>
                <a:spcPts val="300"/>
              </a:spcAft>
              <a:defRPr sz="1250" b="1">
                <a:solidFill>
                  <a:srgbClr val="38BDF8"/>
                </a:solidFill>
                <a:latin typeface="Arial"/>
              </a:defRPr>
            </a:pPr>
            <a:r>
              <a:t>🔗 Liên kết Nộp bài Chính thức</a:t>
            </a:r>
          </a:p>
          <a:p>
            <a:pPr>
              <a:spcAft>
                <a:spcPts val="200"/>
              </a:spcAft>
              <a:defRPr sz="1100">
                <a:solidFill>
                  <a:srgbClr val="E2E8F0"/>
                </a:solidFill>
                <a:latin typeface="Arial"/>
              </a:defRPr>
            </a:pPr>
            <a:r>
              <a:t>• GitHub: github.com/LuTu-2004/prm323-lab2-group4</a:t>
            </a:r>
          </a:p>
          <a:p>
            <a:pPr>
              <a:spcAft>
                <a:spcPts val="200"/>
              </a:spcAft>
              <a:defRPr sz="1100">
                <a:solidFill>
                  <a:srgbClr val="E2E8F0"/>
                </a:solidFill>
                <a:latin typeface="Arial"/>
              </a:defRPr>
            </a:pPr>
            <a:r>
              <a:t>• Figma Link: Công khai quyền xem trên Canvas.</a:t>
            </a:r>
          </a:p>
        </p:txBody>
      </p:sp>
      <p:sp>
        <p:nvSpPr>
          <p:cNvPr id="8" name="Rounded Rectangle 7"/>
          <p:cNvSpPr/>
          <p:nvPr/>
        </p:nvSpPr>
        <p:spPr>
          <a:xfrm>
            <a:off x="8778240" y="1417320"/>
            <a:ext cx="2864815" cy="5029200"/>
          </a:xfrm>
          <a:prstGeom prst="roundRect">
            <a:avLst/>
          </a:prstGeom>
          <a:solidFill>
            <a:srgbClr val="131A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_04_application_submitted.png"/>
          <p:cNvPicPr>
            <a:picLocks noChangeAspect="1"/>
          </p:cNvPicPr>
          <p:nvPr/>
        </p:nvPicPr>
        <p:blipFill>
          <a:blip r:embed="rId2"/>
          <a:stretch>
            <a:fillRect/>
          </a:stretch>
        </p:blipFill>
        <p:spPr>
          <a:xfrm>
            <a:off x="9646469" y="1554480"/>
            <a:ext cx="1128355" cy="47548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